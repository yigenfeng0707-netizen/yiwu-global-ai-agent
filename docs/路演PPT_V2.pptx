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4895" cy="6858000"/>
          </a:xfrm>
          <a:prstGeom prst="rect">
            <a:avLst/>
          </a:prstGeom>
          <a:solidFill>
            <a:srgbClr val="A0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560320"/>
            <a:ext cx="182880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548640"/>
            <a:ext cx="2011680" cy="457200"/>
          </a:xfrm>
          <a:prstGeom prst="round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7607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A01E22"/>
                </a:solidFill>
                <a:latin typeface="微软雅黑"/>
              </a:defRPr>
            </a:pPr>
            <a:r>
              <a:t>V2冠军版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759"/>
              </a:lnSpc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FFFFFF"/>
                </a:solidFill>
                <a:latin typeface="微软雅黑"/>
              </a:defRPr>
            </a:pPr>
            <a:r>
              <a:t>义乌小商品出海智能体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8640"/>
              </a:lnSpc>
              <a:spcBef>
                <a:spcPts val="0"/>
              </a:spcBef>
              <a:spcAft>
                <a:spcPts val="0"/>
              </a:spcAft>
              <a:defRPr sz="7200" b="1">
                <a:solidFill>
                  <a:srgbClr val="D4A017"/>
                </a:solidFill>
                <a:latin typeface="微软雅黑"/>
              </a:defRPr>
            </a:pPr>
            <a:r>
              <a:t>OPC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FFDDDD"/>
                </a:solidFill>
                <a:latin typeface="微软雅黑"/>
              </a:defRPr>
            </a:pPr>
            <a:r>
              <a:t>让小商品照亮全球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029200"/>
            <a:ext cx="2743200" cy="18288"/>
          </a:xfrm>
          <a:prstGeom prst="rect">
            <a:avLst/>
          </a:prstGeom>
          <a:solidFill>
            <a:srgbClr val="FF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212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FFFFF"/>
                </a:solidFill>
                <a:latin typeface="微软雅黑"/>
              </a:defRPr>
            </a:pPr>
            <a:r>
              <a:t>路演人：冯亦根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BBBB"/>
                </a:solidFill>
                <a:latin typeface="微软雅黑"/>
              </a:defRPr>
            </a:pPr>
            <a:r>
              <a:t>Yiwu Internet Competition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出海之痛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义乌商户出海面临的五大核心痛点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0116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874520"/>
            <a:ext cx="192024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20" y="2194560"/>
            <a:ext cx="731520" cy="73152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2677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语言不通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749040"/>
            <a:ext cx="91440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多语言沟通障碍，无法有效触达海外客户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1828800"/>
            <a:ext cx="20116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80360" y="1874520"/>
            <a:ext cx="192024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74720" y="2194560"/>
            <a:ext cx="731520" cy="73152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2677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200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渠道不熟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3749040"/>
            <a:ext cx="91440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02336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缺乏海外销售渠道，依赖中间商利润被压缩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1828800"/>
            <a:ext cx="20116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66360" y="1874520"/>
            <a:ext cx="192024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760720" y="2194560"/>
            <a:ext cx="731520" cy="73152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0" y="22677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200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合规不清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0" y="3749040"/>
            <a:ext cx="91440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57800" y="402336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各国法规差异大，合规风险高成本高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06640" y="1828800"/>
            <a:ext cx="20116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52360" y="1874520"/>
            <a:ext cx="192024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46720" y="2194560"/>
            <a:ext cx="731520" cy="73152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0" y="22677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0" y="3200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运营不精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55280" y="3749040"/>
            <a:ext cx="91440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43800" y="402336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跨境电商运营门槛高，人才稀缺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2640" y="1828800"/>
            <a:ext cx="20116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38360" y="1874520"/>
            <a:ext cx="192024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332720" y="2194560"/>
            <a:ext cx="731520" cy="73152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20" y="22677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3200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物流不懂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241280" y="3749040"/>
            <a:ext cx="91440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29800" y="402336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国际物流链路复杂，时效成本难控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市场机遇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全球小商品市场万亿级蓝海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20"/>
            <a:ext cx="3200400" cy="73152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24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D4272C"/>
                </a:solidFill>
                <a:latin typeface="微软雅黑"/>
              </a:defRPr>
            </a:pPr>
            <a:r>
              <a:t>$5000亿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333333"/>
                </a:solidFill>
                <a:latin typeface="微软雅黑"/>
              </a:defRPr>
            </a:pPr>
            <a:r>
              <a:t>全球小商品市场规模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4114800"/>
            <a:ext cx="14630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89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66666"/>
                </a:solidFill>
                <a:latin typeface="微软雅黑"/>
              </a:defRPr>
            </a:pPr>
            <a:r>
              <a:t>年增长率8.5%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846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66666"/>
                </a:solidFill>
                <a:latin typeface="微软雅黑"/>
              </a:defRPr>
            </a:pPr>
            <a:r>
              <a:t>跨境电商增速超20%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828800"/>
            <a:ext cx="329184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26279" y="1874520"/>
            <a:ext cx="3200400" cy="73152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39" y="22860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24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D4272C"/>
                </a:solidFill>
                <a:latin typeface="微软雅黑"/>
              </a:defRPr>
            </a:pPr>
            <a:r>
              <a:t>¥5000亿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39" y="34747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333333"/>
                </a:solidFill>
                <a:latin typeface="微软雅黑"/>
              </a:defRPr>
            </a:pPr>
            <a:r>
              <a:t>义乌年出口额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4114800"/>
            <a:ext cx="14630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79" y="4389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66666"/>
                </a:solidFill>
                <a:latin typeface="微软雅黑"/>
              </a:defRPr>
            </a:pPr>
            <a:r>
              <a:t>占全国小商品出口1/3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79" y="4846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66666"/>
                </a:solidFill>
                <a:latin typeface="微软雅黑"/>
              </a:defRPr>
            </a:pPr>
            <a:r>
              <a:t>通达230+国家和地区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828800"/>
            <a:ext cx="329184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75320" y="1874520"/>
            <a:ext cx="3200400" cy="73152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22860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24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D4272C"/>
                </a:solidFill>
                <a:latin typeface="微软雅黑"/>
              </a:defRPr>
            </a:pPr>
            <a:r>
              <a:t>7.5万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4747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333333"/>
                </a:solidFill>
                <a:latin typeface="微软雅黑"/>
              </a:defRPr>
            </a:pPr>
            <a:r>
              <a:t>义乌国际商贸城商铺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4114800"/>
            <a:ext cx="14630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0" y="4389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66666"/>
                </a:solidFill>
                <a:latin typeface="微软雅黑"/>
              </a:defRPr>
            </a:pPr>
            <a:r>
              <a:t>210万SKU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4846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66666"/>
                </a:solidFill>
                <a:latin typeface="微软雅黑"/>
              </a:defRPr>
            </a:pPr>
            <a:r>
              <a:t>全球最大小商品集散中心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"义乌发展经验"国家战略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习近平总书记亲自批示，国家级制度性壁垒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640080"/>
          </a:xfrm>
          <a:prstGeom prst="roundRect">
            <a:avLst/>
          </a:prstGeom>
          <a:solidFill>
            <a:srgbClr val="FFF0F0"/>
          </a:solidFill>
          <a:ln w="2540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D4272C"/>
                </a:solidFill>
                <a:latin typeface="微软雅黑"/>
              </a:defRPr>
            </a:pPr>
            <a:r>
              <a:t>★ 习近平总书记亲自批示 ——"义乌发展经验"是国家级改革开放战略，不可复制的制度性壁垒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03520" cy="411480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义乌发展经验 · 六个坚持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00400"/>
            <a:ext cx="4754880" cy="411480"/>
          </a:xfrm>
          <a:prstGeom prst="roundRect">
            <a:avLst/>
          </a:prstGeom>
          <a:solidFill>
            <a:srgbClr val="A0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2461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坚持兴商建市——以市场为核心驱动力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703320"/>
            <a:ext cx="4754880" cy="411480"/>
          </a:xfrm>
          <a:prstGeom prst="roundRect">
            <a:avLst/>
          </a:prstGeom>
          <a:solidFill>
            <a:srgbClr val="A0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7490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坚持产业联动——贸工联动协调发展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206240"/>
            <a:ext cx="4754880" cy="411480"/>
          </a:xfrm>
          <a:prstGeom prst="roundRect">
            <a:avLst/>
          </a:prstGeom>
          <a:solidFill>
            <a:srgbClr val="A0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2519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坚持统筹城乡——城乡一体化发展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09160"/>
            <a:ext cx="4754880" cy="411480"/>
          </a:xfrm>
          <a:prstGeom prst="roundRect">
            <a:avLst/>
          </a:prstGeom>
          <a:solidFill>
            <a:srgbClr val="A0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7548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坚持和谐发展——经济与社会协调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4754880" cy="411480"/>
          </a:xfrm>
          <a:prstGeom prst="roundRect">
            <a:avLst/>
          </a:prstGeom>
          <a:solidFill>
            <a:srgbClr val="A0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2578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坚持丰厚文化——文化软实力支撑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715000"/>
            <a:ext cx="4754880" cy="411480"/>
          </a:xfrm>
          <a:prstGeom prst="roundRect">
            <a:avLst/>
          </a:prstGeom>
          <a:solidFill>
            <a:srgbClr val="A0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7607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坚持党政有为——有为政府与有效市场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2377440"/>
            <a:ext cx="53035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5603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国家战略价值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3200400"/>
            <a:ext cx="4754880" cy="548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3246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1039模式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2461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义乌首创市场采购贸易方式，全国39城复制推广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3840480"/>
            <a:ext cx="4754880" cy="548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38862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210万企业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8862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义乌模式带动全国210万市场主体发展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4480560"/>
            <a:ext cx="4754880" cy="548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45262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3200万就业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45262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义乌经验支撑3200万人就业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92240" y="5120640"/>
            <a:ext cx="4754880" cy="548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5166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政策网络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516636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39城政策互通，形成全国性制度网络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92240" y="5760720"/>
            <a:ext cx="4754880" cy="548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5806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不可复制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58064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地理基因+首创经验+政策网络，三位一体壁垒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解决方案总览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7大AI Agent 全链路覆盖出海全流程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2011680"/>
            <a:ext cx="15544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2057400"/>
            <a:ext cx="1463040" cy="7315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103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市场洞察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31920"/>
            <a:ext cx="10058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4206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实时市场趋势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45720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义乌指数分析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65960" y="2011680"/>
            <a:ext cx="15544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0" y="2057400"/>
            <a:ext cx="1463040" cy="7315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2103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017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智能选品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Agent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40280" y="3931920"/>
            <a:ext cx="10058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4206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210万SKU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5720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智能推荐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0" y="2011680"/>
            <a:ext cx="15544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03320" y="2057400"/>
            <a:ext cx="1463040" cy="7315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03320" y="2103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3017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供应链匹配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31920" y="3931920"/>
            <a:ext cx="10058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03320" y="4206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7.5万商铺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45720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精准对接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49240" y="2011680"/>
            <a:ext cx="15544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94960" y="2057400"/>
            <a:ext cx="1463040" cy="7315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94960" y="2103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3017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跨境内容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9496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Agent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23560" y="3931920"/>
            <a:ext cx="10058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0" y="4206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8语言4平台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60" y="45720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一键生成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040880" y="2011680"/>
            <a:ext cx="15544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086600" y="2057400"/>
            <a:ext cx="1463040" cy="7315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86600" y="2103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3017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合规助手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Agent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0" y="3931920"/>
            <a:ext cx="10058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6600" y="4206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1039模式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45720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沿线合规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732520" y="2011680"/>
            <a:ext cx="15544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778240" y="2057400"/>
            <a:ext cx="1463040" cy="7315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78240" y="2103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3017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智能客服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Agent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06840" y="3931920"/>
            <a:ext cx="10058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778240" y="4206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7×24小时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78240" y="45720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多语言服务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424160" y="2011680"/>
            <a:ext cx="15544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469880" y="2057400"/>
            <a:ext cx="1463040" cy="7315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469880" y="2103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69880" y="3017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政策复制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6988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Agent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698480" y="3931920"/>
            <a:ext cx="10058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469880" y="4206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39城政策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69880" y="45720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一键复制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5943600"/>
            <a:ext cx="11612880" cy="36576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286000" y="6035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D4272C"/>
                </a:solidFill>
                <a:latin typeface="微软雅黑"/>
              </a:defRPr>
            </a:pPr>
            <a:r>
              <a:t>7大AI Agent协同  →  从洞察到成交+政策复制一站式解决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市场洞察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实时捕捉全球市场趋势，义乌指数赋能决策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核心功能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▸  实时监控全球200+国家/地区小商品需求趋势</a:t>
            </a:r>
          </a:p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▸  义乌指数深度分析：价格指数、景气指数、订单指数</a:t>
            </a:r>
          </a:p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▸  AI预测热门品类与季节性需求波动</a:t>
            </a:r>
          </a:p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▸  竞品动态追踪与市场空白点识别</a:t>
            </a:r>
          </a:p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▸  多维度数据可视化看板，一键生成洞察报告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035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义乌指数赋能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468880"/>
            <a:ext cx="475488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560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价格指数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5146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D4272C"/>
                </a:solidFill>
                <a:latin typeface="微软雅黑"/>
              </a:defRPr>
            </a:pPr>
            <a:r>
              <a:t>102.8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26060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D8B4E"/>
                </a:solidFill>
                <a:latin typeface="微软雅黑"/>
              </a:defRPr>
            </a:pPr>
            <a:r>
              <a:t>↑ 2.3%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657600"/>
            <a:ext cx="475488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37490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景气指数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7033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D4272C"/>
                </a:solidFill>
                <a:latin typeface="微软雅黑"/>
              </a:defRPr>
            </a:pPr>
            <a:r>
              <a:t>1,256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794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D8B4E"/>
                </a:solidFill>
                <a:latin typeface="微软雅黑"/>
              </a:defRPr>
            </a:pPr>
            <a:r>
              <a:t>↑ 5.1%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4846320"/>
            <a:ext cx="475488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9377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订单指数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892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D4272C"/>
                </a:solidFill>
                <a:latin typeface="微软雅黑"/>
              </a:defRPr>
            </a:pPr>
            <a:r>
              <a:t>89.6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9834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D8B4E"/>
                </a:solidFill>
                <a:latin typeface="微软雅黑"/>
              </a:defRPr>
            </a:pPr>
            <a:r>
              <a:t>↑ 3.7%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智能选品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210万SKU直连，AI驱动精准选品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657600" cy="475488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640"/>
              </a:lnSpc>
              <a:spcBef>
                <a:spcPts val="0"/>
              </a:spcBef>
              <a:spcAft>
                <a:spcPts val="0"/>
              </a:spcAft>
              <a:defRPr sz="7200" b="1">
                <a:solidFill>
                  <a:srgbClr val="FFFFFF"/>
                </a:solidFill>
                <a:latin typeface="微软雅黑"/>
              </a:defRPr>
            </a:pPr>
            <a:r>
              <a:t>210万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FFDDDD"/>
                </a:solidFill>
                <a:latin typeface="微软雅黑"/>
              </a:defRPr>
            </a:pPr>
            <a:r>
              <a:t>SKU 直连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CCCC"/>
                </a:solidFill>
                <a:latin typeface="微软雅黑"/>
              </a:defRPr>
            </a:pPr>
            <a:r>
              <a:t>覆盖义乌国际商贸城</a:t>
            </a:r>
            <a:br/>
            <a:r>
              <a:t>全品类商品数据</a:t>
            </a:r>
            <a:br/>
            <a:r>
              <a:t>实时更新库存与价格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645920"/>
            <a:ext cx="69494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828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智能选品能力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2377440"/>
            <a:ext cx="6400800" cy="6400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2423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多维度筛选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9748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按品类、价格、销量、评分、趋势等多维度智能筛选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3154680"/>
            <a:ext cx="6400800" cy="6400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3200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AI推荐引擎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47472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基于目标市场偏好与历史数据的个性化推荐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3931920"/>
            <a:ext cx="6400800" cy="6400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3977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趋势预测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25196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预测未来30/60/90天热门品类走势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0" y="4709160"/>
            <a:ext cx="6400800" cy="6400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0" y="4754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利润测算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50292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自动计算成本、物流、关税后的预估利润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46320" y="5486400"/>
            <a:ext cx="6400800" cy="6400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0" y="5532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一键上架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580644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选品后一键同步至Amazon/Shopee/Temu等平台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供应链匹配 Agent  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义乌独有壁垒：7.5万商铺精准匹配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548640"/>
          </a:xfrm>
          <a:prstGeom prst="roundRect">
            <a:avLst/>
          </a:prstGeom>
          <a:solidFill>
            <a:srgbClr val="FFF0F0"/>
          </a:solidFill>
          <a:ln w="190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D4272C"/>
                </a:solidFill>
                <a:latin typeface="微软雅黑"/>
              </a:defRPr>
            </a:pPr>
            <a:r>
              <a:t>★ 义乌独有优势 — 全球唯一7.5万商铺实时数据直连，这是其他任何平台无法复制的核心壁垒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5303520" cy="411480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义乌商铺直连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9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D4A017"/>
                </a:solidFill>
                <a:latin typeface="微软雅黑"/>
              </a:defRPr>
            </a:pPr>
            <a:r>
              <a:t>7.5万+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18211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DDDD"/>
                </a:solidFill>
                <a:latin typeface="微软雅黑"/>
              </a:defRPr>
            </a:pPr>
            <a:r>
              <a:t>国际商贸城商铺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86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D4A017"/>
                </a:solidFill>
                <a:latin typeface="微软雅黑"/>
              </a:defRPr>
            </a:pPr>
            <a:r>
              <a:t>210万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95935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DDDD"/>
                </a:solidFill>
                <a:latin typeface="微软雅黑"/>
              </a:defRPr>
            </a:pPr>
            <a:r>
              <a:t>在线SKU商品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D4A017"/>
                </a:solidFill>
                <a:latin typeface="微软雅黑"/>
              </a:defRPr>
            </a:pPr>
            <a:r>
              <a:t>实时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7365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DDDD"/>
                </a:solidFill>
                <a:latin typeface="微软雅黑"/>
              </a:defRPr>
            </a:pPr>
            <a:r>
              <a:t>库存价格更新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4406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D4A017"/>
                </a:solidFill>
                <a:latin typeface="微软雅黑"/>
              </a:defRPr>
            </a:pPr>
            <a: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5513831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DDDD"/>
                </a:solidFill>
                <a:latin typeface="微软雅黑"/>
              </a:defRPr>
            </a:pPr>
            <a:r>
              <a:t>商铺资质认证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286000"/>
            <a:ext cx="53035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智能匹配能力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01752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需求画像 → 商铺画像：AI语义匹配精度95%+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多商铺比价：同品类3-5家供应商智能比价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产能评估：实时产能与交期预测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样品快寄：一键申请样品，3天内到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信用评级：商铺历史交易信用评分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关系网络：老商户推荐 + 新商户发现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跨境内容生成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8语言4平台，一键生成跨境营销内容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D4272C"/>
                </a:solidFill>
                <a:latin typeface="微软雅黑"/>
              </a:defRPr>
            </a:pPr>
            <a:r>
              <a:t>支持8种语言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286000"/>
            <a:ext cx="109728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4272C"/>
                </a:solidFill>
                <a:latin typeface="微软雅黑"/>
              </a:defRPr>
            </a:pPr>
            <a:r>
              <a:t>英语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2286000"/>
            <a:ext cx="109728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2331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4272C"/>
                </a:solidFill>
                <a:latin typeface="微软雅黑"/>
              </a:defRPr>
            </a:pPr>
            <a:r>
              <a:t>西班牙语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2286000"/>
            <a:ext cx="109728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2331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4272C"/>
                </a:solidFill>
                <a:latin typeface="微软雅黑"/>
              </a:defRPr>
            </a:pPr>
            <a:r>
              <a:t>阿拉伯语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2286000"/>
            <a:ext cx="109728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331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4272C"/>
                </a:solidFill>
                <a:latin typeface="微软雅黑"/>
              </a:defRPr>
            </a:pPr>
            <a:r>
              <a:t>法语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2880360"/>
            <a:ext cx="109728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9260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4272C"/>
                </a:solidFill>
                <a:latin typeface="微软雅黑"/>
              </a:defRPr>
            </a:pPr>
            <a:r>
              <a:t>葡萄牙语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57400" y="2880360"/>
            <a:ext cx="109728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57400" y="29260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4272C"/>
                </a:solidFill>
                <a:latin typeface="微软雅黑"/>
              </a:defRPr>
            </a:pPr>
            <a:r>
              <a:t>俄语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2880360"/>
            <a:ext cx="109728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0" y="29260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4272C"/>
                </a:solidFill>
                <a:latin typeface="微软雅黑"/>
              </a:defRPr>
            </a:pPr>
            <a:r>
              <a:t>日语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2880360"/>
            <a:ext cx="109728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29260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4272C"/>
                </a:solidFill>
                <a:latin typeface="微软雅黑"/>
              </a:defRPr>
            </a:pPr>
            <a:r>
              <a:t>韩语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31920"/>
            <a:ext cx="530352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069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D4272C"/>
                </a:solidFill>
                <a:latin typeface="微软雅黑"/>
              </a:defRPr>
            </a:pPr>
            <a:r>
              <a:t>覆盖4大平台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5720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Amazon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45720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Listing + A+内容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9834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Shopee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49834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商品描述 + 促销文案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3949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Temu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0320" y="5394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商品标题 + 卖点提炼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8064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TikTok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0320" y="58064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短视频脚本 + 直播话术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1645920"/>
            <a:ext cx="53035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AI内容生成能力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237744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商品标题：多语言SEO优化标题自动生成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商品描述：符合平台规范的高转化描述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营销文案：社交媒体帖子、广告语、促销文案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视频脚本：TikTok/Reels短视频脚本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图片文案：主图卖点标注 + 详情页文案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本地化适配：文化禁忌检测 + 表达习惯优化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合规助手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1039模式 + 义新欧沿线合规，为出海保驾护航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691640"/>
            <a:ext cx="5212080" cy="73152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D4272C"/>
                </a:solidFill>
                <a:latin typeface="微软雅黑"/>
              </a:defRPr>
            </a:pPr>
            <a:r>
              <a:t>市场采购贸易1039模式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4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增值税免征不退，降低出口成本15-20%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简化报关流程，通关时效提升50%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多品类拼箱出口，小单也能享受政策红利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外汇便利化，合法合规收结汇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义乌试点经验，全国推广标杆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3035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5212080" cy="73152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9202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C5F8A"/>
                </a:solidFill>
                <a:latin typeface="微软雅黑"/>
              </a:defRPr>
            </a:pPr>
            <a:r>
              <a:t>义新欧沿线合规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46888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欧盟CE认证、REACH法规自动检测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中亚五国贸易合规要求实时更新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中东地区Halal认证指导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东南亚各国进口准入标准查询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沿线国家关税税率智能计算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合规风险预警与整改建议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智能客服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7×24小时多语言智能客服，让每个客户都被善待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0" y="1645920"/>
            <a:ext cx="3931920" cy="228600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0" y="182880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7680"/>
              </a:lnSpc>
              <a:spcBef>
                <a:spcPts val="0"/>
              </a:spcBef>
              <a:spcAft>
                <a:spcPts val="0"/>
              </a:spcAft>
              <a:defRPr sz="6400" b="1">
                <a:solidFill>
                  <a:srgbClr val="FFFFFF"/>
                </a:solidFill>
                <a:latin typeface="微软雅黑"/>
              </a:defRPr>
            </a:pPr>
            <a:r>
              <a:t>7×24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7432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FDDDD"/>
                </a:solidFill>
                <a:latin typeface="微软雅黑"/>
              </a:defRPr>
            </a:pPr>
            <a:r>
              <a:t>全天候多语言服务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297680"/>
            <a:ext cx="26517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4343400"/>
            <a:ext cx="256032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526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D4272C"/>
                </a:solidFill>
                <a:latin typeface="微软雅黑"/>
              </a:defRPr>
            </a:pPr>
            <a:r>
              <a:t>多语言对话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9834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支持8种语言实时对话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492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自动识别客户语言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715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文化适配表达方式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4297680"/>
            <a:ext cx="26517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4720" y="4343400"/>
            <a:ext cx="256032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4526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D4272C"/>
                </a:solidFill>
                <a:latin typeface="微软雅黑"/>
              </a:defRPr>
            </a:pPr>
            <a:r>
              <a:t>智能工单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9834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自动创建跟进工单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53492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优先级智能排序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5715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超时自动升级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4297680"/>
            <a:ext cx="26517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79" y="4343400"/>
            <a:ext cx="256032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19" y="4526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D4272C"/>
                </a:solidFill>
                <a:latin typeface="微软雅黑"/>
              </a:defRPr>
            </a:pPr>
            <a:r>
              <a:t>知识库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19" y="49834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产品FAQ自动应答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19" y="53492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订单状态实时查询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19" y="5715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退换货流程指引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89719" y="4297680"/>
            <a:ext cx="26517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35439" y="4343400"/>
            <a:ext cx="256032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79" y="4526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D4272C"/>
                </a:solidFill>
                <a:latin typeface="微软雅黑"/>
              </a:defRPr>
            </a:pPr>
            <a:r>
              <a:t>人机协作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79" y="49834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复杂问题转人工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79" y="53492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对话上下文无缝传递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79" y="5715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服务质量实时监控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政策复制 Agent  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第7大Agent：义乌经验39城一键复制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548640"/>
          </a:xfrm>
          <a:prstGeom prst="roundRect">
            <a:avLst/>
          </a:prstGeom>
          <a:solidFill>
            <a:srgbClr val="FFF8E0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996600"/>
                </a:solidFill>
                <a:latin typeface="微软雅黑"/>
              </a:defRPr>
            </a:pPr>
            <a:r>
              <a:t>★ 国家级政策复制能力 — 1039模式已在全国39个城市推广，OPC是唯一AI驱动的政策复制引擎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5303520" cy="4114800"/>
          </a:xfrm>
          <a:prstGeom prst="round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A01E22"/>
                </a:solidFill>
                <a:latin typeface="微软雅黑"/>
              </a:defRPr>
            </a:pPr>
            <a:r>
              <a:t>政策复制核心能力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08960"/>
            <a:ext cx="4754880" cy="548640"/>
          </a:xfrm>
          <a:prstGeom prst="roundRect">
            <a:avLst/>
          </a:prstGeom>
          <a:solidFill>
            <a:srgbClr val="C89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54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政策匹配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154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2A00"/>
                </a:solidFill>
                <a:latin typeface="微软雅黑"/>
              </a:defRPr>
            </a:pPr>
            <a:r>
              <a:t>AI分析目标城市产业特征，匹配最优义乌经验方案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749039"/>
            <a:ext cx="4754880" cy="548640"/>
          </a:xfrm>
          <a:prstGeom prst="roundRect">
            <a:avLst/>
          </a:prstGeom>
          <a:solidFill>
            <a:srgbClr val="C89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79475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流程复制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3794759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2A00"/>
                </a:solidFill>
                <a:latin typeface="微软雅黑"/>
              </a:defRPr>
            </a:pPr>
            <a:r>
              <a:t>1039通关流程、市场采购模式一键复制到新城市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389120"/>
            <a:ext cx="4754880" cy="548640"/>
          </a:xfrm>
          <a:prstGeom prst="roundRect">
            <a:avLst/>
          </a:prstGeom>
          <a:solidFill>
            <a:srgbClr val="C89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合规迁移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434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2A00"/>
                </a:solidFill>
                <a:latin typeface="微软雅黑"/>
              </a:defRPr>
            </a:pPr>
            <a:r>
              <a:t>各地法规差异自动识别，合规方案本地化适配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029200"/>
            <a:ext cx="4754880" cy="548640"/>
          </a:xfrm>
          <a:prstGeom prst="roundRect">
            <a:avLst/>
          </a:prstGeom>
          <a:solidFill>
            <a:srgbClr val="C89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074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数据互通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50749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2A00"/>
                </a:solidFill>
                <a:latin typeface="微软雅黑"/>
              </a:defRPr>
            </a:pPr>
            <a:r>
              <a:t>39城政策数据网络互通，形成全国政策知识图谱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79"/>
            <a:ext cx="4754880" cy="548640"/>
          </a:xfrm>
          <a:prstGeom prst="roundRect">
            <a:avLst/>
          </a:prstGeom>
          <a:solidFill>
            <a:srgbClr val="C89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1499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效果追踪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5714999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2A00"/>
                </a:solidFill>
                <a:latin typeface="微软雅黑"/>
              </a:defRPr>
            </a:pPr>
            <a:r>
              <a:t>复制效果实时监控，AI持续优化落地策略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286000"/>
            <a:ext cx="53035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39城复制推广数据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1089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D4272C"/>
                </a:solidFill>
                <a:latin typeface="微软雅黑"/>
              </a:defRPr>
            </a:pPr>
            <a:r>
              <a:t>39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108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试点城市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33832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覆盖全国主要贸易节点城市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38862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D4272C"/>
                </a:solidFill>
                <a:latin typeface="微软雅黑"/>
              </a:defRPr>
            </a:pPr>
            <a:r>
              <a:t>210万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3886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市场主体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41605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义乌经验带动全国市场主体发展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D4272C"/>
                </a:solidFill>
                <a:latin typeface="微软雅黑"/>
              </a:defRPr>
            </a:pPr>
            <a:r>
              <a:t>3200万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4663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就业人口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49377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义乌模式支撑就业规模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544067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D4272C"/>
                </a:solidFill>
                <a:latin typeface="微软雅黑"/>
              </a:defRPr>
            </a:pPr>
            <a:r>
              <a:t>50万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54406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政府年采购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5714999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每城市政府年采购额（元）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39城复制推广地图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1039模式全国布局，从义乌到全国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77724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0" y="3200400"/>
            <a:ext cx="1097280" cy="1097280"/>
          </a:xfrm>
          <a:prstGeom prst="ellipse">
            <a:avLst/>
          </a:prstGeom>
          <a:solidFill>
            <a:srgbClr val="D4272C"/>
          </a:solidFill>
          <a:ln w="381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342900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义乌</a:t>
            </a:r>
          </a:p>
        </p:txBody>
      </p:sp>
      <p:sp>
        <p:nvSpPr>
          <p:cNvPr id="9" name="Oval 8"/>
          <p:cNvSpPr/>
          <p:nvPr/>
        </p:nvSpPr>
        <p:spPr>
          <a:xfrm>
            <a:off x="1965960" y="2843784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300837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满洲里</a:t>
            </a:r>
          </a:p>
        </p:txBody>
      </p:sp>
      <p:sp>
        <p:nvSpPr>
          <p:cNvPr id="11" name="Oval 10"/>
          <p:cNvSpPr/>
          <p:nvPr/>
        </p:nvSpPr>
        <p:spPr>
          <a:xfrm>
            <a:off x="2788920" y="299466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315925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绥芬河</a:t>
            </a:r>
          </a:p>
        </p:txBody>
      </p:sp>
      <p:sp>
        <p:nvSpPr>
          <p:cNvPr id="13" name="Oval 12"/>
          <p:cNvSpPr/>
          <p:nvPr/>
        </p:nvSpPr>
        <p:spPr>
          <a:xfrm>
            <a:off x="3611880" y="274320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29077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黑河</a:t>
            </a:r>
          </a:p>
        </p:txBody>
      </p:sp>
      <p:sp>
        <p:nvSpPr>
          <p:cNvPr id="15" name="Oval 14"/>
          <p:cNvSpPr/>
          <p:nvPr/>
        </p:nvSpPr>
        <p:spPr>
          <a:xfrm>
            <a:off x="5257800" y="2843784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300837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丹东</a:t>
            </a:r>
          </a:p>
        </p:txBody>
      </p:sp>
      <p:sp>
        <p:nvSpPr>
          <p:cNvPr id="17" name="Oval 16"/>
          <p:cNvSpPr/>
          <p:nvPr/>
        </p:nvSpPr>
        <p:spPr>
          <a:xfrm>
            <a:off x="2377440" y="324612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40280" y="341071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二连浩特</a:t>
            </a:r>
          </a:p>
        </p:txBody>
      </p:sp>
      <p:sp>
        <p:nvSpPr>
          <p:cNvPr id="19" name="Oval 18"/>
          <p:cNvSpPr/>
          <p:nvPr/>
        </p:nvSpPr>
        <p:spPr>
          <a:xfrm>
            <a:off x="3200400" y="3346704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3240" y="351129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呼和浩特</a:t>
            </a:r>
          </a:p>
        </p:txBody>
      </p:sp>
      <p:sp>
        <p:nvSpPr>
          <p:cNvPr id="21" name="Oval 20"/>
          <p:cNvSpPr/>
          <p:nvPr/>
        </p:nvSpPr>
        <p:spPr>
          <a:xfrm>
            <a:off x="4023360" y="324612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86200" y="341071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北京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0" y="349758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9160" y="36621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天津</a:t>
            </a:r>
          </a:p>
        </p:txBody>
      </p:sp>
      <p:sp>
        <p:nvSpPr>
          <p:cNvPr id="25" name="Oval 24"/>
          <p:cNvSpPr/>
          <p:nvPr/>
        </p:nvSpPr>
        <p:spPr>
          <a:xfrm>
            <a:off x="3611880" y="3648456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381304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石家庄</a:t>
            </a:r>
          </a:p>
        </p:txBody>
      </p:sp>
      <p:sp>
        <p:nvSpPr>
          <p:cNvPr id="27" name="Oval 26"/>
          <p:cNvSpPr/>
          <p:nvPr/>
        </p:nvSpPr>
        <p:spPr>
          <a:xfrm>
            <a:off x="4434840" y="3648456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381304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济南</a:t>
            </a:r>
          </a:p>
        </p:txBody>
      </p:sp>
      <p:sp>
        <p:nvSpPr>
          <p:cNvPr id="29" name="Oval 28"/>
          <p:cNvSpPr/>
          <p:nvPr/>
        </p:nvSpPr>
        <p:spPr>
          <a:xfrm>
            <a:off x="5257800" y="3648456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20640" y="381304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青岛</a:t>
            </a:r>
          </a:p>
        </p:txBody>
      </p:sp>
      <p:sp>
        <p:nvSpPr>
          <p:cNvPr id="31" name="Oval 30"/>
          <p:cNvSpPr/>
          <p:nvPr/>
        </p:nvSpPr>
        <p:spPr>
          <a:xfrm>
            <a:off x="6080760" y="3497580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0" y="36621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上海</a:t>
            </a:r>
          </a:p>
        </p:txBody>
      </p:sp>
      <p:sp>
        <p:nvSpPr>
          <p:cNvPr id="33" name="Oval 32"/>
          <p:cNvSpPr/>
          <p:nvPr/>
        </p:nvSpPr>
        <p:spPr>
          <a:xfrm>
            <a:off x="5669280" y="3849624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32120" y="401421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杭州</a:t>
            </a:r>
          </a:p>
        </p:txBody>
      </p:sp>
      <p:sp>
        <p:nvSpPr>
          <p:cNvPr id="35" name="Oval 34"/>
          <p:cNvSpPr/>
          <p:nvPr/>
        </p:nvSpPr>
        <p:spPr>
          <a:xfrm>
            <a:off x="4846320" y="400050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09160" y="41650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南昌</a:t>
            </a:r>
          </a:p>
        </p:txBody>
      </p:sp>
      <p:sp>
        <p:nvSpPr>
          <p:cNvPr id="37" name="Oval 36"/>
          <p:cNvSpPr/>
          <p:nvPr/>
        </p:nvSpPr>
        <p:spPr>
          <a:xfrm>
            <a:off x="4434840" y="4151376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97680" y="4315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长沙</a:t>
            </a:r>
          </a:p>
        </p:txBody>
      </p:sp>
      <p:sp>
        <p:nvSpPr>
          <p:cNvPr id="39" name="Oval 38"/>
          <p:cNvSpPr/>
          <p:nvPr/>
        </p:nvSpPr>
        <p:spPr>
          <a:xfrm>
            <a:off x="3611880" y="400050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74720" y="41650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武汉</a:t>
            </a:r>
          </a:p>
        </p:txBody>
      </p:sp>
      <p:sp>
        <p:nvSpPr>
          <p:cNvPr id="41" name="Oval 40"/>
          <p:cNvSpPr/>
          <p:nvPr/>
        </p:nvSpPr>
        <p:spPr>
          <a:xfrm>
            <a:off x="4023360" y="4352544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86200" y="451713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广州</a:t>
            </a:r>
          </a:p>
        </p:txBody>
      </p:sp>
      <p:sp>
        <p:nvSpPr>
          <p:cNvPr id="43" name="Oval 42"/>
          <p:cNvSpPr/>
          <p:nvPr/>
        </p:nvSpPr>
        <p:spPr>
          <a:xfrm>
            <a:off x="4434840" y="450342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97680" y="466801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深圳</a:t>
            </a:r>
          </a:p>
        </p:txBody>
      </p:sp>
      <p:sp>
        <p:nvSpPr>
          <p:cNvPr id="45" name="Oval 44"/>
          <p:cNvSpPr/>
          <p:nvPr/>
        </p:nvSpPr>
        <p:spPr>
          <a:xfrm>
            <a:off x="4846320" y="4352544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09160" y="451713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厦门</a:t>
            </a:r>
          </a:p>
        </p:txBody>
      </p:sp>
      <p:sp>
        <p:nvSpPr>
          <p:cNvPr id="47" name="Oval 46"/>
          <p:cNvSpPr/>
          <p:nvPr/>
        </p:nvSpPr>
        <p:spPr>
          <a:xfrm>
            <a:off x="3200400" y="425196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63240" y="441655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南宁</a:t>
            </a:r>
          </a:p>
        </p:txBody>
      </p:sp>
      <p:sp>
        <p:nvSpPr>
          <p:cNvPr id="49" name="Oval 48"/>
          <p:cNvSpPr/>
          <p:nvPr/>
        </p:nvSpPr>
        <p:spPr>
          <a:xfrm>
            <a:off x="2377440" y="400050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240280" y="41650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昆明</a:t>
            </a:r>
          </a:p>
        </p:txBody>
      </p:sp>
      <p:sp>
        <p:nvSpPr>
          <p:cNvPr id="51" name="Oval 50"/>
          <p:cNvSpPr/>
          <p:nvPr/>
        </p:nvSpPr>
        <p:spPr>
          <a:xfrm>
            <a:off x="2788920" y="3749039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51760" y="3913631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成都</a:t>
            </a:r>
          </a:p>
        </p:txBody>
      </p:sp>
      <p:sp>
        <p:nvSpPr>
          <p:cNvPr id="53" name="Oval 52"/>
          <p:cNvSpPr/>
          <p:nvPr/>
        </p:nvSpPr>
        <p:spPr>
          <a:xfrm>
            <a:off x="2377440" y="3648456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40280" y="381304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重庆</a:t>
            </a:r>
          </a:p>
        </p:txBody>
      </p:sp>
      <p:sp>
        <p:nvSpPr>
          <p:cNvPr id="55" name="Oval 54"/>
          <p:cNvSpPr/>
          <p:nvPr/>
        </p:nvSpPr>
        <p:spPr>
          <a:xfrm>
            <a:off x="1965960" y="349758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828800" y="36621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西安</a:t>
            </a:r>
          </a:p>
        </p:txBody>
      </p:sp>
      <p:sp>
        <p:nvSpPr>
          <p:cNvPr id="57" name="Oval 56"/>
          <p:cNvSpPr/>
          <p:nvPr/>
        </p:nvSpPr>
        <p:spPr>
          <a:xfrm>
            <a:off x="1554480" y="324612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417320" y="341071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兰州</a:t>
            </a:r>
          </a:p>
        </p:txBody>
      </p:sp>
      <p:sp>
        <p:nvSpPr>
          <p:cNvPr id="59" name="Oval 58"/>
          <p:cNvSpPr/>
          <p:nvPr/>
        </p:nvSpPr>
        <p:spPr>
          <a:xfrm>
            <a:off x="1389888" y="299466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52728" y="315925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乌鲁木齐</a:t>
            </a:r>
          </a:p>
        </p:txBody>
      </p:sp>
      <p:sp>
        <p:nvSpPr>
          <p:cNvPr id="61" name="Oval 60"/>
          <p:cNvSpPr/>
          <p:nvPr/>
        </p:nvSpPr>
        <p:spPr>
          <a:xfrm>
            <a:off x="3200400" y="3849624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063240" y="401421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贵阳</a:t>
            </a:r>
          </a:p>
        </p:txBody>
      </p:sp>
      <p:sp>
        <p:nvSpPr>
          <p:cNvPr id="63" name="Oval 62"/>
          <p:cNvSpPr/>
          <p:nvPr/>
        </p:nvSpPr>
        <p:spPr>
          <a:xfrm>
            <a:off x="3611880" y="425196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74720" y="441655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海口</a:t>
            </a:r>
          </a:p>
        </p:txBody>
      </p:sp>
      <p:sp>
        <p:nvSpPr>
          <p:cNvPr id="65" name="Oval 64"/>
          <p:cNvSpPr/>
          <p:nvPr/>
        </p:nvSpPr>
        <p:spPr>
          <a:xfrm>
            <a:off x="6080760" y="3749039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943600" y="3913631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宁波</a:t>
            </a:r>
          </a:p>
        </p:txBody>
      </p:sp>
      <p:sp>
        <p:nvSpPr>
          <p:cNvPr id="67" name="Oval 66"/>
          <p:cNvSpPr/>
          <p:nvPr/>
        </p:nvSpPr>
        <p:spPr>
          <a:xfrm>
            <a:off x="5257800" y="4000500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20640" y="41650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福州</a:t>
            </a:r>
          </a:p>
        </p:txBody>
      </p:sp>
      <p:sp>
        <p:nvSpPr>
          <p:cNvPr id="69" name="Oval 68"/>
          <p:cNvSpPr/>
          <p:nvPr/>
        </p:nvSpPr>
        <p:spPr>
          <a:xfrm>
            <a:off x="5669280" y="4251960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532120" y="441655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泉州</a:t>
            </a:r>
          </a:p>
        </p:txBody>
      </p:sp>
      <p:sp>
        <p:nvSpPr>
          <p:cNvPr id="71" name="Oval 70"/>
          <p:cNvSpPr/>
          <p:nvPr/>
        </p:nvSpPr>
        <p:spPr>
          <a:xfrm>
            <a:off x="3200400" y="349758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063240" y="36621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太原</a:t>
            </a:r>
          </a:p>
        </p:txBody>
      </p:sp>
      <p:sp>
        <p:nvSpPr>
          <p:cNvPr id="73" name="Oval 72"/>
          <p:cNvSpPr/>
          <p:nvPr/>
        </p:nvSpPr>
        <p:spPr>
          <a:xfrm>
            <a:off x="2788920" y="349758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651760" y="36621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银川</a:t>
            </a:r>
          </a:p>
        </p:txBody>
      </p:sp>
      <p:sp>
        <p:nvSpPr>
          <p:cNvPr id="75" name="Oval 74"/>
          <p:cNvSpPr/>
          <p:nvPr/>
        </p:nvSpPr>
        <p:spPr>
          <a:xfrm>
            <a:off x="1965960" y="3749039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828800" y="3913631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拉萨</a:t>
            </a:r>
          </a:p>
        </p:txBody>
      </p:sp>
      <p:sp>
        <p:nvSpPr>
          <p:cNvPr id="77" name="Oval 76"/>
          <p:cNvSpPr/>
          <p:nvPr/>
        </p:nvSpPr>
        <p:spPr>
          <a:xfrm>
            <a:off x="4023360" y="3849624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886200" y="401421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合肥</a:t>
            </a:r>
          </a:p>
        </p:txBody>
      </p:sp>
      <p:sp>
        <p:nvSpPr>
          <p:cNvPr id="79" name="Oval 78"/>
          <p:cNvSpPr/>
          <p:nvPr/>
        </p:nvSpPr>
        <p:spPr>
          <a:xfrm>
            <a:off x="4846320" y="3749039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709160" y="3913631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南京</a:t>
            </a:r>
          </a:p>
        </p:txBody>
      </p:sp>
      <p:sp>
        <p:nvSpPr>
          <p:cNvPr id="81" name="Oval 80"/>
          <p:cNvSpPr/>
          <p:nvPr/>
        </p:nvSpPr>
        <p:spPr>
          <a:xfrm>
            <a:off x="4434840" y="349758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97680" y="36621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郑州</a:t>
            </a:r>
          </a:p>
        </p:txBody>
      </p:sp>
      <p:sp>
        <p:nvSpPr>
          <p:cNvPr id="83" name="Oval 82"/>
          <p:cNvSpPr/>
          <p:nvPr/>
        </p:nvSpPr>
        <p:spPr>
          <a:xfrm>
            <a:off x="3200400" y="4151376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63240" y="4315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凭祥</a:t>
            </a:r>
          </a:p>
        </p:txBody>
      </p:sp>
      <p:sp>
        <p:nvSpPr>
          <p:cNvPr id="85" name="Oval 84"/>
          <p:cNvSpPr/>
          <p:nvPr/>
        </p:nvSpPr>
        <p:spPr>
          <a:xfrm>
            <a:off x="2377440" y="3145536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240280" y="331012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阿拉山口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686800" y="1645920"/>
            <a:ext cx="2926080" cy="475488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869680" y="18288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39城布局概览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869680" y="24688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华东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784080" y="24688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12城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69680" y="2697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CCCC"/>
                </a:solidFill>
                <a:latin typeface="微软雅黑"/>
              </a:defRPr>
            </a:pPr>
            <a:r>
              <a:t>义乌、上海、杭州、宁波等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869680" y="3017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华南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784080" y="3017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7城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461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CCCC"/>
                </a:solidFill>
                <a:latin typeface="微软雅黑"/>
              </a:defRPr>
            </a:pPr>
            <a:r>
              <a:t>广州、深圳、厦门、南宁等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869680" y="3566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华北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784080" y="35661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6城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869680" y="379476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CCCC"/>
                </a:solidFill>
                <a:latin typeface="微软雅黑"/>
              </a:defRPr>
            </a:pPr>
            <a:r>
              <a:t>北京、天津、石家庄等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869680" y="41148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华中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784080" y="41148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5城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69680" y="4343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CCCC"/>
                </a:solidFill>
                <a:latin typeface="微软雅黑"/>
              </a:defRPr>
            </a:pPr>
            <a:r>
              <a:t>武汉、长沙、郑州等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46634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东北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46634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4城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869680" y="489204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CCCC"/>
                </a:solidFill>
                <a:latin typeface="微软雅黑"/>
              </a:defRPr>
            </a:pPr>
            <a:r>
              <a:t>满洲里、绥芬河、丹东等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869680" y="52120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西南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784080" y="52120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3城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869680" y="54406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CCCC"/>
                </a:solidFill>
                <a:latin typeface="微软雅黑"/>
              </a:defRPr>
            </a:pPr>
            <a:r>
              <a:t>成都、重庆、昆明等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69680" y="57607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西北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784080" y="57607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2城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869680" y="59893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CCCC"/>
                </a:solidFill>
                <a:latin typeface="微软雅黑"/>
              </a:defRPr>
            </a:pPr>
            <a:r>
              <a:t>西安、乌鲁木齐等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全链路工作流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7步串联，从市场洞察到政策复制全闭环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828800"/>
            <a:ext cx="15544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874520"/>
            <a:ext cx="1463040" cy="64008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6974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4272C"/>
                </a:solidFill>
                <a:latin typeface="微软雅黑"/>
              </a:defRPr>
            </a:pPr>
            <a:r>
              <a:t>市场洞察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1089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发现机会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520440"/>
            <a:ext cx="100584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749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趋势分析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需求预测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828800" y="3657600"/>
            <a:ext cx="137160" cy="274320"/>
          </a:xfrm>
          <a:prstGeom prst="rightArrow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65960" y="1828800"/>
            <a:ext cx="15544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11680" y="1874520"/>
            <a:ext cx="1463040" cy="64008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6974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4272C"/>
                </a:solidFill>
                <a:latin typeface="微软雅黑"/>
              </a:defRPr>
            </a:pPr>
            <a:r>
              <a:t>智能选品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31089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锁定产品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40280" y="3520440"/>
            <a:ext cx="100584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57400" y="3749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SKU筛选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利润测算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520440" y="3657600"/>
            <a:ext cx="137160" cy="274320"/>
          </a:xfrm>
          <a:prstGeom prst="rightArrow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57600" y="1828800"/>
            <a:ext cx="15544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03320" y="1874520"/>
            <a:ext cx="1463040" cy="64008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0332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3320" y="26974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4272C"/>
                </a:solidFill>
                <a:latin typeface="微软雅黑"/>
              </a:defRPr>
            </a:pPr>
            <a:r>
              <a:t>供应链匹配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320" y="31089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对接商铺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31920" y="3520440"/>
            <a:ext cx="100584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49040" y="3749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商铺匹配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4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样品确认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5212080" y="3657600"/>
            <a:ext cx="137160" cy="274320"/>
          </a:xfrm>
          <a:prstGeom prst="rightArrow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349240" y="1828800"/>
            <a:ext cx="15544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394960" y="1874520"/>
            <a:ext cx="1463040" cy="64008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496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60" y="26974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4272C"/>
                </a:solidFill>
                <a:latin typeface="微软雅黑"/>
              </a:defRPr>
            </a:pPr>
            <a:r>
              <a:t>内容生成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60" y="31089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打造内容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23560" y="3520440"/>
            <a:ext cx="100584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3749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多语言文案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平台适配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6903720" y="3657600"/>
            <a:ext cx="137160" cy="274320"/>
          </a:xfrm>
          <a:prstGeom prst="rightArrow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040880" y="1828800"/>
            <a:ext cx="15544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086600" y="1874520"/>
            <a:ext cx="1463040" cy="64008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660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26974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4272C"/>
                </a:solidFill>
                <a:latin typeface="微软雅黑"/>
              </a:defRPr>
            </a:pPr>
            <a:r>
              <a:t>合规审核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6600" y="31089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确保合规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0" y="3520440"/>
            <a:ext cx="100584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0" y="3749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资质检测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3232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风险预警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8595360" y="3657600"/>
            <a:ext cx="137160" cy="274320"/>
          </a:xfrm>
          <a:prstGeom prst="rightArrow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732520" y="1828800"/>
            <a:ext cx="15544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778240" y="1874520"/>
            <a:ext cx="1463040" cy="64008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7824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78240" y="26974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4272C"/>
                </a:solidFill>
                <a:latin typeface="微软雅黑"/>
              </a:defRPr>
            </a:pPr>
            <a:r>
              <a:t>智能客服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0" y="31089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成交转化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006840" y="3520440"/>
            <a:ext cx="100584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23960" y="3749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客户服务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2396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订单跟进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10287000" y="3657600"/>
            <a:ext cx="137160" cy="274320"/>
          </a:xfrm>
          <a:prstGeom prst="rightArrow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10424160" y="1828800"/>
            <a:ext cx="15544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469880" y="1874520"/>
            <a:ext cx="1463040" cy="6400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6988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69880" y="26974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4272C"/>
                </a:solidFill>
                <a:latin typeface="微软雅黑"/>
              </a:defRPr>
            </a:pPr>
            <a:r>
              <a:t>政策复制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69880" y="31089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全国推广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698480" y="3520440"/>
            <a:ext cx="100584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749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39城复制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经验迁移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371600" y="6126480"/>
            <a:ext cx="941832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554480" y="6172200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4272C"/>
                </a:solidFill>
                <a:latin typeface="微软雅黑"/>
              </a:defRPr>
            </a:pPr>
            <a:r>
              <a:t>7大Agent协同工作，数据自动流转，从义乌到39城全国复制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LangGraph + FastAPI + React，企业级AI架构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474720" cy="6400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前端层  |  React + Next.js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347472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5176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响应式Web应用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实时数据看板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多语言UI支持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PWA离线可用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45920"/>
            <a:ext cx="3474720" cy="64008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7373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服务层  |  FastAPI + LangGraph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377440"/>
            <a:ext cx="347472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65176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LangGraph多Agent编排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FastAPI高性能接口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Redis消息队列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PostgreSQL数据持久化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645920"/>
            <a:ext cx="3474720" cy="640080"/>
          </a:xfrm>
          <a:prstGeom prst="roundRect">
            <a:avLst/>
          </a:prstGeom>
          <a:solidFill>
            <a:srgbClr val="2D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7373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数据层  |  多源数据融合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377440"/>
            <a:ext cx="347472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65176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义乌指数API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商铺实时数据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海关合规数据库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39城政策数据库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6424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5778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D4272C"/>
                </a:solidFill>
                <a:latin typeface="微软雅黑"/>
              </a:defRPr>
            </a:pPr>
            <a:r>
              <a:t>AI核心能力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436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GPT-4o 多语言理解  |  LangGraph Agent编排  |  RAG知识增强  |  向量检索  |  实时数据流  |  多模态内容生成  |  政策知识图谱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商业模式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四档定价 + 政府采购 + 城市合伙人，多元收入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920240"/>
            <a:ext cx="26517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965960"/>
            <a:ext cx="2560320" cy="73152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体验版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EEEE"/>
                </a:solidFill>
                <a:latin typeface="微软雅黑"/>
              </a:defRPr>
            </a:pPr>
            <a:r>
              <a:t>免费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每月50次AI调用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基础市场数据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1个平台对接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社区支持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920240"/>
            <a:ext cx="26517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965960"/>
            <a:ext cx="2560320" cy="73152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0116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基础版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3317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EEEE"/>
                </a:solidFill>
                <a:latin typeface="微软雅黑"/>
              </a:defRPr>
            </a:pPr>
            <a:r>
              <a:t>¥299/月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每月500次AI调用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完整市场洞察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931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3个平台对接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434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在线客服支持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1645920"/>
            <a:ext cx="265176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49440" y="1417320"/>
            <a:ext cx="1371600" cy="36576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0" y="14447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推荐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1691640"/>
            <a:ext cx="2560320" cy="7315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737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专业版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0574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EEEE"/>
                </a:solidFill>
                <a:latin typeface="微软雅黑"/>
              </a:defRPr>
            </a:pPr>
            <a:r>
              <a:t>¥999/月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无限AI调用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154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全链路7大Agent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657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全平台对接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160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专属客户经理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1920240"/>
            <a:ext cx="26517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8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81160" y="1965960"/>
            <a:ext cx="2560320" cy="731520"/>
          </a:xfrm>
          <a:prstGeom prst="rect">
            <a:avLst/>
          </a:prstGeom>
          <a:solidFill>
            <a:srgbClr val="2D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0" y="20116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企业版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23317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EEEE"/>
                </a:solidFill>
                <a:latin typeface="微软雅黑"/>
              </a:defRPr>
            </a:pPr>
            <a:r>
              <a:t>定制报价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私有化部署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定制Agent开发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3931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API接口开放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4434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7×24专属服务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政府采购 + 城市合伙人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B2G + B2B双轮驱动，39城规模化复制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691640"/>
            <a:ext cx="5212080" cy="7315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政府采购模式（B2G）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51760"/>
            <a:ext cx="4754880" cy="7315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年费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6974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33333"/>
                </a:solidFill>
                <a:latin typeface="微软雅黑"/>
              </a:defRPr>
            </a:pPr>
            <a:r>
              <a:t>50万/年/城市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175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政府购买义乌经验数字化复制服务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20439"/>
            <a:ext cx="4754880" cy="7315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56615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覆盖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56615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33333"/>
                </a:solidFill>
                <a:latin typeface="微软雅黑"/>
              </a:defRPr>
            </a:pPr>
            <a:r>
              <a:t>39个试点城市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886199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1039模式推广城市全覆盖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389120"/>
            <a:ext cx="4754880" cy="7315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4348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内容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4348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33333"/>
                </a:solidFill>
                <a:latin typeface="微软雅黑"/>
              </a:defRPr>
            </a:pPr>
            <a:r>
              <a:t>政策复制+合规+数据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7548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一站式数字化出海公共服务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257800"/>
            <a:ext cx="4754880" cy="7315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303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收入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53035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33333"/>
                </a:solidFill>
                <a:latin typeface="微软雅黑"/>
              </a:defRPr>
            </a:pPr>
            <a:r>
              <a:t>1,950万/年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6235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39城 × 50万 = 1,950万/年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645920"/>
            <a:ext cx="530352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1691640"/>
            <a:ext cx="5212080" cy="7315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7830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A01E22"/>
                </a:solidFill>
                <a:latin typeface="微软雅黑"/>
              </a:defRPr>
            </a:pPr>
            <a:r>
              <a:t>城市合伙人模式（B2B）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2651760"/>
            <a:ext cx="4754880" cy="731520"/>
          </a:xfrm>
          <a:prstGeom prst="roundRect">
            <a:avLst/>
          </a:prstGeom>
          <a:solidFill>
            <a:srgbClr val="FFF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2697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996600"/>
                </a:solidFill>
                <a:latin typeface="微软雅黑"/>
              </a:defRPr>
            </a:pPr>
            <a:r>
              <a:t>分润比例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26974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33333"/>
                </a:solidFill>
                <a:latin typeface="微软雅黑"/>
              </a:defRPr>
            </a:pPr>
            <a:r>
              <a:t>30%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0175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合伙人获得当地商户收入的30%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92240" y="3520439"/>
            <a:ext cx="4754880" cy="731520"/>
          </a:xfrm>
          <a:prstGeom prst="roundRect">
            <a:avLst/>
          </a:prstGeom>
          <a:solidFill>
            <a:srgbClr val="FFF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356615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996600"/>
                </a:solidFill>
                <a:latin typeface="微软雅黑"/>
              </a:defRPr>
            </a:pPr>
            <a:r>
              <a:t>合伙人职责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3566159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33333"/>
                </a:solidFill>
                <a:latin typeface="微软雅黑"/>
              </a:defRPr>
            </a:pPr>
            <a:r>
              <a:t>本地运营+商户拓展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3886199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负责本地市场推广与商户服务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92240" y="4389120"/>
            <a:ext cx="4754880" cy="731520"/>
          </a:xfrm>
          <a:prstGeom prst="roundRect">
            <a:avLst/>
          </a:prstGeom>
          <a:solidFill>
            <a:srgbClr val="FFF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996600"/>
                </a:solidFill>
                <a:latin typeface="微软雅黑"/>
              </a:defRPr>
            </a:pPr>
            <a:r>
              <a:t>OPC职责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44348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33333"/>
                </a:solidFill>
                <a:latin typeface="微软雅黑"/>
              </a:defRPr>
            </a:pPr>
            <a:r>
              <a:t>技术+品牌+培训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47548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提供平台、培训、品牌支持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92240" y="5257800"/>
            <a:ext cx="4754880" cy="731520"/>
          </a:xfrm>
          <a:prstGeom prst="roundRect">
            <a:avLst/>
          </a:prstGeom>
          <a:solidFill>
            <a:srgbClr val="FFF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0" y="5303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996600"/>
                </a:solidFill>
                <a:latin typeface="微软雅黑"/>
              </a:defRPr>
            </a:pPr>
            <a:r>
              <a:t>预期收入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53035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33333"/>
                </a:solidFill>
                <a:latin typeface="微软雅黑"/>
              </a:defRPr>
            </a:pPr>
            <a:r>
              <a:t>585万/年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56235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39城商户收入的30%分润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竞争优势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四大义乌独有壁垒，构建不可逾越的护城河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645920"/>
            <a:ext cx="2743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91640"/>
            <a:ext cx="2651760" cy="91440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EEEE"/>
                </a:solidFill>
                <a:latin typeface="微软雅黑"/>
              </a:defRPr>
            </a:pPr>
            <a:r>
              <a:t>壁垒一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057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7.5万商铺数据直连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8346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全球唯一与义乌国际商贸城7.5万商铺实时数据直连的平台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657600"/>
            <a:ext cx="2377440" cy="27432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93192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商铺库存、价格实时同步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商户信用评级体系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供应链响应速度领先3-5倍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数据壁垒：10年+积累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1645920"/>
            <a:ext cx="2743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691640"/>
            <a:ext cx="2651760" cy="91440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EEEE"/>
                </a:solidFill>
                <a:latin typeface="微软雅黑"/>
              </a:defRPr>
            </a:pPr>
            <a:r>
              <a:t>壁垒二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057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1039政策深度绑定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8346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深度绑定义乌市场采购贸易1039模式，享受政策红利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29000" y="3657600"/>
            <a:ext cx="2377440" cy="27432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3192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增值税免征不退，成本优势15-20%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简化通关，时效提升50%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政府背书，合规无忧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政策壁垒：试点独占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645920"/>
            <a:ext cx="2743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691640"/>
            <a:ext cx="2651760" cy="914400"/>
          </a:xfrm>
          <a:prstGeom prst="rect">
            <a:avLst/>
          </a:prstGeom>
          <a:solidFill>
            <a:srgbClr val="2D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EEEE"/>
                </a:solidFill>
                <a:latin typeface="微软雅黑"/>
              </a:defRPr>
            </a:pPr>
            <a:r>
              <a:t>壁垒三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057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义新欧通道优势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8346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依托义新欧中欧班列，构建沿线合规与服务网络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657600"/>
            <a:ext cx="2377440" cy="27432"/>
          </a:xfrm>
          <a:prstGeom prst="rect">
            <a:avLst/>
          </a:prstGeom>
          <a:solidFill>
            <a:srgbClr val="2D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93192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覆盖中亚、欧洲13国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沿线合规数据库独家建设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物流时效提升30%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通道壁垒：先发优势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89720" y="1645920"/>
            <a:ext cx="2743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35440" y="1691640"/>
            <a:ext cx="2651760" cy="9144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EEEE"/>
                </a:solidFill>
                <a:latin typeface="微软雅黑"/>
              </a:defRPr>
            </a:pPr>
            <a:r>
              <a:t>壁垒四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2057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义乌经验国家级壁垒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28346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习近平总书记亲自批示"义乌发展经验"，39城政策复制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72600" y="3657600"/>
            <a:ext cx="23774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0" y="393192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国家级战略背书，不可复制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39城政策网络，规模壁垒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210万企业+3200万就业数据飞轮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制度壁垒：唯一性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OPC 模式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1人 + 7Agent = 10人团队效能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645920"/>
            <a:ext cx="9418320" cy="182880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828800"/>
            <a:ext cx="9052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FFFFF"/>
                </a:solidFill>
                <a:latin typeface="微软雅黑"/>
              </a:defRPr>
            </a:pPr>
            <a:r>
              <a:t>1人 + 7Agent = 10人团队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651760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FDDDD"/>
                </a:solidFill>
                <a:latin typeface="微软雅黑"/>
              </a:defRPr>
            </a:pPr>
            <a:r>
              <a:t>One Person Company — 一个人就是一家出海公司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40480"/>
            <a:ext cx="530352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3886200"/>
            <a:ext cx="5212080" cy="54864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传统模式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663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CC3333"/>
                </a:solidFill>
                <a:latin typeface="微软雅黑"/>
              </a:defRPr>
            </a:pPr>
            <a:r>
              <a:t>✗  需要10+人团队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74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CC3333"/>
                </a:solidFill>
                <a:latin typeface="微软雅黑"/>
              </a:defRPr>
            </a:pPr>
            <a:r>
              <a:t>✗  月成本10万+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486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CC3333"/>
                </a:solidFill>
                <a:latin typeface="微软雅黑"/>
              </a:defRPr>
            </a:pPr>
            <a:r>
              <a:t>✗  响应周期3-7天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89787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CC3333"/>
                </a:solidFill>
                <a:latin typeface="微软雅黑"/>
              </a:defRPr>
            </a:pPr>
            <a:r>
              <a:t>✗  人工操作易出错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40480"/>
            <a:ext cx="53035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3886200"/>
            <a:ext cx="5212080" cy="54864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931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OPC模式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663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D8B4E"/>
                </a:solidFill>
                <a:latin typeface="微软雅黑"/>
              </a:defRPr>
            </a:pPr>
            <a:r>
              <a:t>✓  1人即可运营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5074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D8B4E"/>
                </a:solidFill>
                <a:latin typeface="微软雅黑"/>
              </a:defRPr>
            </a:pPr>
            <a:r>
              <a:t>✓  月成本低至999元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5486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D8B4E"/>
                </a:solidFill>
                <a:latin typeface="微软雅黑"/>
              </a:defRPr>
            </a:pPr>
            <a:r>
              <a:t>✓  AI实时响应，秒级决策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89787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D8B4E"/>
                </a:solidFill>
                <a:latin typeface="微软雅黑"/>
              </a:defRPr>
            </a:pPr>
            <a:r>
              <a:t>✓  7大Agent自动化，零出错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三级增长飞轮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义乌1.0 → 39城2.0 → 全国3.0，指数级增长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56616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3474720" cy="109728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EEEE"/>
                </a:solidFill>
                <a:latin typeface="微软雅黑"/>
              </a:defRPr>
            </a:pPr>
            <a:r>
              <a:t>第一级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义乌本地 1.0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DDDD"/>
                </a:solidFill>
                <a:latin typeface="微软雅黑"/>
              </a:defRPr>
            </a:pPr>
            <a:r>
              <a:t>1-12个月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175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63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7.5万商铺直连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747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5204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210万SKU数据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9776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1039模式试点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891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4348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MRR 144.7万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029200"/>
            <a:ext cx="3017520" cy="27432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120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夯实义乌根据地，验证商业模式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023360" y="3931920"/>
            <a:ext cx="274320" cy="457200"/>
          </a:xfrm>
          <a:prstGeom prst="rightArrow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97680" y="1645920"/>
            <a:ext cx="356616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3400" y="1691640"/>
            <a:ext cx="3474720" cy="10972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EEEE"/>
                </a:solidFill>
                <a:latin typeface="微软雅黑"/>
              </a:defRPr>
            </a:pPr>
            <a:r>
              <a:t>第二级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057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39城复制 2.0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2468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DDDD"/>
                </a:solidFill>
                <a:latin typeface="微软雅黑"/>
              </a:defRPr>
            </a:pPr>
            <a:r>
              <a:t>13-24个月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30175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7720" y="3063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39城政策复制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34747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35204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政府采购1,950万/年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0560" y="39319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7720" y="39776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城市合伙人30%分润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80560" y="43891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17720" y="44348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商户规模10倍增长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0" y="5029200"/>
            <a:ext cx="301752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80560" y="52120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义乌经验全国复制，B2G+B2B双轮驱动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7863840" y="3931920"/>
            <a:ext cx="274320" cy="457200"/>
          </a:xfrm>
          <a:prstGeom prst="rightArrow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38160" y="1645920"/>
            <a:ext cx="356616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C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83880" y="1691640"/>
            <a:ext cx="3474720" cy="10972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EEEE"/>
                </a:solidFill>
                <a:latin typeface="微软雅黑"/>
              </a:defRPr>
            </a:pPr>
            <a:r>
              <a:t>第三级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2057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全国县域 3.0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2468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DDDD"/>
                </a:solidFill>
                <a:latin typeface="微软雅黑"/>
              </a:defRPr>
            </a:pPr>
            <a:r>
              <a:t>25-36个月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21040" y="30175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3063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2,800+县域覆盖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321040" y="34747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58200" y="35204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全国小商品网络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321040" y="39319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58200" y="39776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产业带数字化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21040" y="43891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58200" y="44348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平台生态收入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412480" y="5029200"/>
            <a:ext cx="3017520" cy="27432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21040" y="52120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从城市到县域，构建全国小商品数字化基础设施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财务预测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12个月收入+39城复制，首月即实现正向现金流（已对齐《财务预测与商业计划》权威模型，M12累计营收697.1万）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1371600" cy="45720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月份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1645920"/>
            <a:ext cx="1828800" cy="45720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17190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付费用户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40" y="1645920"/>
            <a:ext cx="2011680" cy="45720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17190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月收入(万)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720" y="1645920"/>
            <a:ext cx="2011680" cy="45720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17190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累计收入(万)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1645920"/>
            <a:ext cx="2011680" cy="45720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17190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月成本(万)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84080" y="1645920"/>
            <a:ext cx="1828800" cy="45720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0" y="17190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净利润(万)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103120"/>
            <a:ext cx="1371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17627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M1-3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2103120"/>
            <a:ext cx="18288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21762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150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49040" y="2103120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0" y="21762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10.9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60720" y="2103120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0" y="21762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26.8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0" y="2103120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762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3.9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84080" y="2103120"/>
            <a:ext cx="18288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5520" y="21762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7.0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2560320"/>
            <a:ext cx="137160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263347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M4-6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20240" y="2560320"/>
            <a:ext cx="182880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11680" y="26334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600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40" y="2560320"/>
            <a:ext cx="201168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40480" y="26334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34.1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60720" y="2560320"/>
            <a:ext cx="201168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52160" y="26334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110.9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2560320"/>
            <a:ext cx="201168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0" y="26334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9.5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784080" y="2560320"/>
            <a:ext cx="182880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0" y="26334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24.6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3017520"/>
            <a:ext cx="1371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309067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M7-9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20240" y="3017520"/>
            <a:ext cx="18288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11680" y="30906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1,500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49040" y="3017520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40480" y="30906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79.2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60720" y="3017520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852160" y="30906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308.4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772400" y="3017520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0" y="30906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24.8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84080" y="3017520"/>
            <a:ext cx="18288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0" y="30906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54.4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3474720"/>
            <a:ext cx="137160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354787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M10-12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920240" y="3474720"/>
            <a:ext cx="182880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11680" y="35478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3,000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749040" y="3474720"/>
            <a:ext cx="201168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40480" y="35478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152.2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60720" y="3474720"/>
            <a:ext cx="201168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852160" y="35478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697.1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72400" y="3474720"/>
            <a:ext cx="201168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63840" y="35478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42.5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84080" y="3474720"/>
            <a:ext cx="182880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75520" y="35478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109.7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D4272C"/>
                </a:solidFill>
                <a:latin typeface="微软雅黑"/>
              </a:defRPr>
            </a:pPr>
            <a:r>
              <a:t>39城复制收入预测（M13-24）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4297680"/>
            <a:ext cx="2743200" cy="36576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80" y="4343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项目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91840" y="4297680"/>
            <a:ext cx="2011680" cy="36576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83280" y="434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M13-15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303520" y="4297680"/>
            <a:ext cx="2011680" cy="36576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94960" y="434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M16-18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15200" y="4297680"/>
            <a:ext cx="2011680" cy="36576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06640" y="434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M19-21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326880" y="4297680"/>
            <a:ext cx="2011680" cy="36576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418320" y="434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M22-24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48640" y="4663440"/>
            <a:ext cx="27432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4709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政府采购(万/季)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91840" y="4663440"/>
            <a:ext cx="2011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383280" y="4709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375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303520" y="4663440"/>
            <a:ext cx="2011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394960" y="4709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750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315200" y="4663440"/>
            <a:ext cx="2011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406640" y="4709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1,125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326880" y="4663440"/>
            <a:ext cx="2011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418320" y="4709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1,500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48640" y="5029200"/>
            <a:ext cx="2743200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0080" y="5074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城市合伙人分润(万/季)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291840" y="5029200"/>
            <a:ext cx="2011680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383280" y="5074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113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303520" y="5029200"/>
            <a:ext cx="2011680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394960" y="5074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225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315200" y="5029200"/>
            <a:ext cx="2011680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406640" y="5074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338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326880" y="5029200"/>
            <a:ext cx="2011680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418320" y="5074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450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8640" y="5394960"/>
            <a:ext cx="27432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0080" y="5440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39城商户收入(万/季)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291840" y="5394960"/>
            <a:ext cx="2011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383280" y="5440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263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303520" y="5394960"/>
            <a:ext cx="2011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394960" y="5440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525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315200" y="5394960"/>
            <a:ext cx="2011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06640" y="5440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788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326880" y="5394960"/>
            <a:ext cx="2011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418320" y="5440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1,050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48640" y="5760720"/>
            <a:ext cx="2743200" cy="365760"/>
          </a:xfrm>
          <a:prstGeom prst="rect">
            <a:avLst/>
          </a:prstGeom>
          <a:solidFill>
            <a:srgbClr val="D4A01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40080" y="58064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合计(万/季)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291840" y="5760720"/>
            <a:ext cx="2011680" cy="365760"/>
          </a:xfrm>
          <a:prstGeom prst="rect">
            <a:avLst/>
          </a:prstGeom>
          <a:solidFill>
            <a:srgbClr val="D4A01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383280" y="5806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751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303520" y="5760720"/>
            <a:ext cx="2011680" cy="365760"/>
          </a:xfrm>
          <a:prstGeom prst="rect">
            <a:avLst/>
          </a:prstGeom>
          <a:solidFill>
            <a:srgbClr val="D4A01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394960" y="5806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1,500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315200" y="5760720"/>
            <a:ext cx="2011680" cy="365760"/>
          </a:xfrm>
          <a:prstGeom prst="rect">
            <a:avLst/>
          </a:prstGeom>
          <a:solidFill>
            <a:srgbClr val="D4A01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406640" y="5806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2,251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326880" y="5760720"/>
            <a:ext cx="2011680" cy="365760"/>
          </a:xfrm>
          <a:prstGeom prst="rect">
            <a:avLst/>
          </a:prstGeom>
          <a:solidFill>
            <a:srgbClr val="D4A01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418320" y="5806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3,000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融资计划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种子轮100万，加速产品落地与39城复制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228600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FFDDDD"/>
                </a:solidFill>
                <a:latin typeface="微软雅黑"/>
              </a:defRPr>
            </a:pPr>
            <a:r>
              <a:t>种子轮融资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72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FFFFF"/>
                </a:solidFill>
                <a:latin typeface="微软雅黑"/>
              </a:defRPr>
            </a:pPr>
            <a:r>
              <a:t>¥100万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出让10%股权  |  估值1000万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D4272C"/>
                </a:solidFill>
                <a:latin typeface="微软雅黑"/>
              </a:defRPr>
            </a:pPr>
            <a:r>
              <a:t>资金用途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860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40%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2860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技术研发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286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7大Agent完善 + AI API + 数据对接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7004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30%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6700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市场拓展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267004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义乌地推驻点 + 39城复制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054096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05409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团队建设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305409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核心工程师招聘 + 运营/政策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43814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343814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运营储备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343814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服务器 + 法务 + 应急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06240"/>
            <a:ext cx="110642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389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D4272C"/>
                </a:solidFill>
                <a:latin typeface="微软雅黑"/>
              </a:defRPr>
            </a:pPr>
            <a:r>
              <a:t>融资后里程碑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4983480"/>
            <a:ext cx="228600" cy="22860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0160" y="4937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4272C"/>
                </a:solidFill>
                <a:latin typeface="微软雅黑"/>
              </a:defRPr>
            </a:pPr>
            <a:r>
              <a:t>M1-3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4937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微软雅黑"/>
              </a:defRPr>
            </a:pPr>
            <a:r>
              <a:t>产品MVP上线，7大Agent核心功能完成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4937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义乌本地种子用户150+</a:t>
            </a:r>
          </a:p>
        </p:txBody>
      </p:sp>
      <p:sp>
        <p:nvSpPr>
          <p:cNvPr id="30" name="Oval 29"/>
          <p:cNvSpPr/>
          <p:nvPr/>
        </p:nvSpPr>
        <p:spPr>
          <a:xfrm>
            <a:off x="914400" y="5367528"/>
            <a:ext cx="228600" cy="22860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532180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4272C"/>
                </a:solidFill>
                <a:latin typeface="微软雅黑"/>
              </a:defRPr>
            </a:pPr>
            <a:r>
              <a:t>M4-6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532180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微软雅黑"/>
              </a:defRPr>
            </a:pPr>
            <a:r>
              <a:t>付费用户600+，月收入34万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53218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启动39城政策复制对接</a:t>
            </a:r>
          </a:p>
        </p:txBody>
      </p:sp>
      <p:sp>
        <p:nvSpPr>
          <p:cNvPr id="34" name="Oval 33"/>
          <p:cNvSpPr/>
          <p:nvPr/>
        </p:nvSpPr>
        <p:spPr>
          <a:xfrm>
            <a:off x="914400" y="5751576"/>
            <a:ext cx="228600" cy="22860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570585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4272C"/>
                </a:solidFill>
                <a:latin typeface="微软雅黑"/>
              </a:defRPr>
            </a:pPr>
            <a:r>
              <a:t>M7-9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0" y="57058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微软雅黑"/>
              </a:defRPr>
            </a:pPr>
            <a:r>
              <a:t>付费用户1,500+，月收入79万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570585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首批5城政策复制落地</a:t>
            </a:r>
          </a:p>
        </p:txBody>
      </p:sp>
      <p:sp>
        <p:nvSpPr>
          <p:cNvPr id="38" name="Oval 37"/>
          <p:cNvSpPr/>
          <p:nvPr/>
        </p:nvSpPr>
        <p:spPr>
          <a:xfrm>
            <a:off x="914400" y="6135624"/>
            <a:ext cx="228600" cy="22860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80160" y="608990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4272C"/>
                </a:solidFill>
                <a:latin typeface="微软雅黑"/>
              </a:defRPr>
            </a:pPr>
            <a:r>
              <a:t>M10-12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0" y="608990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微软雅黑"/>
              </a:defRPr>
            </a:pPr>
            <a:r>
              <a:t>月收入152万，累计营收697万，准备Pre-A轮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79" y="608990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39城全面复制启动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