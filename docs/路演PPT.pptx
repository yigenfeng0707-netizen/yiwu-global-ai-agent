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0"/>
            <a:ext cx="3504895" cy="6858000"/>
          </a:xfrm>
          <a:prstGeom prst="rect">
            <a:avLst/>
          </a:prstGeom>
          <a:solidFill>
            <a:srgbClr val="A01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560320"/>
            <a:ext cx="182880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759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微软雅黑"/>
              </a:defRPr>
            </a:pPr>
            <a:r>
              <a:t>义乌小商品出海智能体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640"/>
              </a:lnSpc>
              <a:spcBef>
                <a:spcPts val="0"/>
              </a:spcBef>
              <a:spcAft>
                <a:spcPts val="0"/>
              </a:spcAft>
              <a:defRPr sz="7200" b="1">
                <a:solidFill>
                  <a:srgbClr val="D4A017"/>
                </a:solidFill>
                <a:latin typeface="微软雅黑"/>
              </a:defRPr>
            </a:pPr>
            <a:r>
              <a:t>OPC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FFDDDD"/>
                </a:solidFill>
                <a:latin typeface="微软雅黑"/>
              </a:defRPr>
            </a:pPr>
            <a:r>
              <a:t>让小商品照亮全球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029200"/>
            <a:ext cx="2743200" cy="18288"/>
          </a:xfrm>
          <a:prstGeom prst="rect">
            <a:avLst/>
          </a:prstGeom>
          <a:solidFill>
            <a:srgbClr val="FF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212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FFFF"/>
                </a:solidFill>
                <a:latin typeface="微软雅黑"/>
              </a:defRPr>
            </a:pPr>
            <a:r>
              <a:t>路演人：冯亦根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669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BBBB"/>
                </a:solidFill>
                <a:latin typeface="微软雅黑"/>
              </a:defRPr>
            </a:pPr>
            <a:r>
              <a:t>Yiwu Internet Competition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出海之痛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CCCC"/>
                </a:solidFill>
                <a:latin typeface="微软雅黑"/>
              </a:defRPr>
            </a:pPr>
            <a:r>
              <a:t>义乌商户出海面临的五大核心痛点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20116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874520"/>
            <a:ext cx="1920240" cy="54864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8720" y="2194560"/>
            <a:ext cx="731520" cy="731520"/>
          </a:xfrm>
          <a:prstGeom prst="ellipse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267712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D4272C"/>
                </a:solidFill>
                <a:latin typeface="微软雅黑"/>
              </a:defRPr>
            </a:pPr>
            <a:r>
              <a:t>语言不通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3749040"/>
            <a:ext cx="914400" cy="2743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02336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t>多语言沟通障碍，无法有效触达海外客户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40" y="1828800"/>
            <a:ext cx="20116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80360" y="1874520"/>
            <a:ext cx="1920240" cy="54864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474720" y="2194560"/>
            <a:ext cx="731520" cy="731520"/>
          </a:xfrm>
          <a:prstGeom prst="ellipse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2267712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200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D4272C"/>
                </a:solidFill>
                <a:latin typeface="微软雅黑"/>
              </a:defRPr>
            </a:pPr>
            <a:r>
              <a:t>渠道不熟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0" y="3749040"/>
            <a:ext cx="914400" cy="2743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71800" y="402336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t>缺乏海外销售渠道，依赖中间商利润被压缩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0640" y="1828800"/>
            <a:ext cx="20116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66360" y="1874520"/>
            <a:ext cx="1920240" cy="54864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760720" y="2194560"/>
            <a:ext cx="731520" cy="731520"/>
          </a:xfrm>
          <a:prstGeom prst="ellipse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0720" y="2267712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3200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D4272C"/>
                </a:solidFill>
                <a:latin typeface="微软雅黑"/>
              </a:defRPr>
            </a:pPr>
            <a:r>
              <a:t>合规不清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0" y="3749040"/>
            <a:ext cx="914400" cy="2743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57800" y="402336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t>各国法规差异大，合规风险高成本高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06640" y="1828800"/>
            <a:ext cx="20116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52360" y="1874520"/>
            <a:ext cx="1920240" cy="54864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46720" y="2194560"/>
            <a:ext cx="731520" cy="731520"/>
          </a:xfrm>
          <a:prstGeom prst="ellipse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0" y="2267712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0" y="3200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D4272C"/>
                </a:solidFill>
                <a:latin typeface="微软雅黑"/>
              </a:defRPr>
            </a:pPr>
            <a:r>
              <a:t>运营不精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55280" y="3749040"/>
            <a:ext cx="914400" cy="2743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43800" y="402336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t>跨境电商运营门槛高，人才稀缺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92640" y="1828800"/>
            <a:ext cx="20116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738360" y="1874520"/>
            <a:ext cx="1920240" cy="54864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332720" y="2194560"/>
            <a:ext cx="731520" cy="731520"/>
          </a:xfrm>
          <a:prstGeom prst="ellipse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332720" y="2267712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0" y="3200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D4272C"/>
                </a:solidFill>
                <a:latin typeface="微软雅黑"/>
              </a:defRPr>
            </a:pPr>
            <a:r>
              <a:t>物流不懂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241280" y="3749040"/>
            <a:ext cx="914400" cy="2743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29800" y="402336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t>国际物流链路复杂，时效成本难控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市场机遇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CCCC"/>
                </a:solidFill>
                <a:latin typeface="微软雅黑"/>
              </a:defRPr>
            </a:pPr>
            <a:r>
              <a:t>全球小商品市场万亿级蓝海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9184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74520"/>
            <a:ext cx="3200400" cy="73152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240"/>
              </a:lnSpc>
              <a:spcBef>
                <a:spcPts val="0"/>
              </a:spcBef>
              <a:spcAft>
                <a:spcPts val="0"/>
              </a:spcAft>
              <a:defRPr sz="5200" b="1">
                <a:solidFill>
                  <a:srgbClr val="D4272C"/>
                </a:solidFill>
                <a:latin typeface="微软雅黑"/>
              </a:defRPr>
            </a:pPr>
            <a:r>
              <a:t>$5000亿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33333"/>
                </a:solidFill>
                <a:latin typeface="微软雅黑"/>
              </a:defRPr>
            </a:pPr>
            <a:r>
              <a:t>全球小商品市场规模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0" y="4114800"/>
            <a:ext cx="1463040" cy="2743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89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66666"/>
                </a:solidFill>
                <a:latin typeface="微软雅黑"/>
              </a:defRPr>
            </a:pPr>
            <a:r>
              <a:t>年增长率8.5%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846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66666"/>
                </a:solidFill>
                <a:latin typeface="微软雅黑"/>
              </a:defRPr>
            </a:pPr>
            <a:r>
              <a:t>跨境电商增速超20%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59" y="1828800"/>
            <a:ext cx="329184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6279" y="1874520"/>
            <a:ext cx="3200400" cy="73152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39" y="22860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240"/>
              </a:lnSpc>
              <a:spcBef>
                <a:spcPts val="0"/>
              </a:spcBef>
              <a:spcAft>
                <a:spcPts val="0"/>
              </a:spcAft>
              <a:defRPr sz="5200" b="1">
                <a:solidFill>
                  <a:srgbClr val="D4272C"/>
                </a:solidFill>
                <a:latin typeface="微软雅黑"/>
              </a:defRPr>
            </a:pPr>
            <a:r>
              <a:t>¥5000亿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39" y="34747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33333"/>
                </a:solidFill>
                <a:latin typeface="微软雅黑"/>
              </a:defRPr>
            </a:pPr>
            <a:r>
              <a:t>义乌年出口额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94959" y="4114800"/>
            <a:ext cx="1463040" cy="2743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79" y="4389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66666"/>
                </a:solidFill>
                <a:latin typeface="微软雅黑"/>
              </a:defRPr>
            </a:pPr>
            <a:r>
              <a:t>占全国小商品出口1/3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79" y="4846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66666"/>
                </a:solidFill>
                <a:latin typeface="微软雅黑"/>
              </a:defRPr>
            </a:pPr>
            <a:r>
              <a:t>通达230+国家和地区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1828800"/>
            <a:ext cx="329184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75320" y="1874520"/>
            <a:ext cx="3200400" cy="73152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22860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240"/>
              </a:lnSpc>
              <a:spcBef>
                <a:spcPts val="0"/>
              </a:spcBef>
              <a:spcAft>
                <a:spcPts val="0"/>
              </a:spcAft>
              <a:defRPr sz="5200" b="1">
                <a:solidFill>
                  <a:srgbClr val="D4272C"/>
                </a:solidFill>
                <a:latin typeface="微软雅黑"/>
              </a:defRPr>
            </a:pPr>
            <a:r>
              <a:t>7.5万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4747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33333"/>
                </a:solidFill>
                <a:latin typeface="微软雅黑"/>
              </a:defRPr>
            </a:pPr>
            <a:r>
              <a:t>义乌国际商贸城商铺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0" y="4114800"/>
            <a:ext cx="1463040" cy="2743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0" y="4389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66666"/>
                </a:solidFill>
                <a:latin typeface="微软雅黑"/>
              </a:defRPr>
            </a:pPr>
            <a:r>
              <a:t>210万SKU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4846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66666"/>
                </a:solidFill>
                <a:latin typeface="微软雅黑"/>
              </a:defRPr>
            </a:pPr>
            <a:r>
              <a:t>全球最大小商品集散中心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解决方案总览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CCCC"/>
                </a:solidFill>
                <a:latin typeface="微软雅黑"/>
              </a:defRPr>
            </a:pPr>
            <a:r>
              <a:t>6大AI Agent 全链路覆盖出海全流程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173736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057400"/>
            <a:ext cx="1645920" cy="731520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031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175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微软雅黑"/>
              </a:defRPr>
            </a:pPr>
            <a:r>
              <a:t>市场洞察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832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微软雅黑"/>
              </a:defRPr>
            </a:pPr>
            <a:r>
              <a:t>Agent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931920"/>
            <a:ext cx="1005840" cy="2743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2062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实时市场趋势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5720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义乌指数分析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77440" y="2011680"/>
            <a:ext cx="173736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23160" y="2057400"/>
            <a:ext cx="1645920" cy="731520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23160" y="21031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30175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微软雅黑"/>
              </a:defRPr>
            </a:pPr>
            <a:r>
              <a:t>智能选品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33832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微软雅黑"/>
              </a:defRPr>
            </a:pPr>
            <a:r>
              <a:t>Agent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3931920"/>
            <a:ext cx="1005840" cy="2743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68880" y="42062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210万SKU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45720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智能推荐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2011680"/>
            <a:ext cx="173736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3400" y="2057400"/>
            <a:ext cx="1645920" cy="731520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21031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30175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微软雅黑"/>
              </a:defRPr>
            </a:pPr>
            <a:r>
              <a:t>供应链匹配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33832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微软雅黑"/>
              </a:defRPr>
            </a:pPr>
            <a:r>
              <a:t>Agent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63440" y="3931920"/>
            <a:ext cx="1005840" cy="2743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0" y="42062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7.5万商铺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45720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精准对接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2011680"/>
            <a:ext cx="173736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2057400"/>
            <a:ext cx="1645920" cy="731520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21031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30175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微软雅黑"/>
              </a:defRPr>
            </a:pPr>
            <a:r>
              <a:t>跨境内容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33832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微软雅黑"/>
              </a:defRPr>
            </a:pPr>
            <a:r>
              <a:t>Agent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0" y="3931920"/>
            <a:ext cx="1005840" cy="2743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0" y="42062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8语言4平台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45720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一键生成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38160" y="2011680"/>
            <a:ext cx="173736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83880" y="2057400"/>
            <a:ext cx="1645920" cy="731520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83880" y="21031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30175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微软雅黑"/>
              </a:defRPr>
            </a:pPr>
            <a:r>
              <a:t>合规助手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33832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微软雅黑"/>
              </a:defRPr>
            </a:pPr>
            <a:r>
              <a:t>Agent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03920" y="3931920"/>
            <a:ext cx="1005840" cy="2743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0" y="42062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1039模式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45720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沿线合规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058400" y="2011680"/>
            <a:ext cx="173736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104120" y="2057400"/>
            <a:ext cx="1645920" cy="731520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104120" y="21031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149840" y="30175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微软雅黑"/>
              </a:defRPr>
            </a:pPr>
            <a:r>
              <a:t>智能客服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149840" y="33832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微软雅黑"/>
              </a:defRPr>
            </a:pPr>
            <a:r>
              <a:t>Agent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24160" y="3931920"/>
            <a:ext cx="1005840" cy="2743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149840" y="42062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7×24小时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149840" y="45720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多语言服务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5943600"/>
            <a:ext cx="11247120" cy="36576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43200" y="60350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D4272C"/>
                </a:solidFill>
                <a:latin typeface="微软雅黑"/>
              </a:defRPr>
            </a:pPr>
            <a:r>
              <a:t>全链路 AI Agent 协同  →  从洞察到成交一站式解决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市场洞察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CCCC"/>
                </a:solidFill>
                <a:latin typeface="微软雅黑"/>
              </a:defRPr>
            </a:pPr>
            <a:r>
              <a:t>实时捕捉全球市场趋势，义乌指数赋能决策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3035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D4272C"/>
                </a:solidFill>
                <a:latin typeface="微软雅黑"/>
              </a:defRPr>
            </a:pPr>
            <a:r>
              <a:t>核心功能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400"/>
              </a:spcAft>
              <a:defRPr sz="1500">
                <a:solidFill>
                  <a:srgbClr val="333333"/>
                </a:solidFill>
                <a:latin typeface="微软雅黑"/>
              </a:defRPr>
            </a:pPr>
            <a:r>
              <a:t>▸  实时监控全球200+国家/地区小商品需求趋势</a:t>
            </a:r>
          </a:p>
          <a:p>
            <a:pPr>
              <a:lnSpc>
                <a:spcPts val="2400"/>
              </a:lnSpc>
              <a:spcAft>
                <a:spcPts val="400"/>
              </a:spcAft>
              <a:defRPr sz="1500">
                <a:solidFill>
                  <a:srgbClr val="333333"/>
                </a:solidFill>
                <a:latin typeface="微软雅黑"/>
              </a:defRPr>
            </a:pPr>
            <a:r>
              <a:t>▸  义乌指数深度分析：价格指数、景气指数、订单指数</a:t>
            </a:r>
          </a:p>
          <a:p>
            <a:pPr>
              <a:lnSpc>
                <a:spcPts val="2400"/>
              </a:lnSpc>
              <a:spcAft>
                <a:spcPts val="400"/>
              </a:spcAft>
              <a:defRPr sz="1500">
                <a:solidFill>
                  <a:srgbClr val="333333"/>
                </a:solidFill>
                <a:latin typeface="微软雅黑"/>
              </a:defRPr>
            </a:pPr>
            <a:r>
              <a:t>▸  AI预测热门品类与季节性需求波动</a:t>
            </a:r>
          </a:p>
          <a:p>
            <a:pPr>
              <a:lnSpc>
                <a:spcPts val="2400"/>
              </a:lnSpc>
              <a:spcAft>
                <a:spcPts val="400"/>
              </a:spcAft>
              <a:defRPr sz="1500">
                <a:solidFill>
                  <a:srgbClr val="333333"/>
                </a:solidFill>
                <a:latin typeface="微软雅黑"/>
              </a:defRPr>
            </a:pPr>
            <a:r>
              <a:t>▸  竞品动态追踪与市场空白点识别</a:t>
            </a:r>
          </a:p>
          <a:p>
            <a:pPr>
              <a:lnSpc>
                <a:spcPts val="2400"/>
              </a:lnSpc>
              <a:spcAft>
                <a:spcPts val="400"/>
              </a:spcAft>
              <a:defRPr sz="1500">
                <a:solidFill>
                  <a:srgbClr val="333333"/>
                </a:solidFill>
                <a:latin typeface="微软雅黑"/>
              </a:defRPr>
            </a:pPr>
            <a:r>
              <a:t>▸  多维度数据可视化看板，一键生成洞察报告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3035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D4272C"/>
                </a:solidFill>
                <a:latin typeface="微软雅黑"/>
              </a:defRPr>
            </a:pPr>
            <a:r>
              <a:t>义乌指数赋能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2468880"/>
            <a:ext cx="4754880" cy="9144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560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价格指数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514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D4272C"/>
                </a:solidFill>
                <a:latin typeface="微软雅黑"/>
              </a:defRPr>
            </a:pPr>
            <a:r>
              <a:t>102.8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26060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28B22"/>
                </a:solidFill>
                <a:latin typeface="微软雅黑"/>
              </a:defRPr>
            </a:pPr>
            <a:r>
              <a:t>↑ 2.3%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3657600"/>
            <a:ext cx="4754880" cy="9144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37490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景气指数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7033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D4272C"/>
                </a:solidFill>
                <a:latin typeface="微软雅黑"/>
              </a:defRPr>
            </a:pPr>
            <a:r>
              <a:t>1,256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37947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28B22"/>
                </a:solidFill>
                <a:latin typeface="微软雅黑"/>
              </a:defRPr>
            </a:pPr>
            <a:r>
              <a:t>↑ 5.1%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4846320"/>
            <a:ext cx="4754880" cy="9144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49377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订单指数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8920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D4272C"/>
                </a:solidFill>
                <a:latin typeface="微软雅黑"/>
              </a:defRPr>
            </a:pPr>
            <a:r>
              <a:t>89.6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49834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28B22"/>
                </a:solidFill>
                <a:latin typeface="微软雅黑"/>
              </a:defRPr>
            </a:pPr>
            <a:r>
              <a:t>↑ 3.7%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智能选品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CCCC"/>
                </a:solidFill>
                <a:latin typeface="微软雅黑"/>
              </a:defRPr>
            </a:pPr>
            <a:r>
              <a:t>210万SKU直连，AI驱动精准选品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657600" cy="4754880"/>
          </a:xfrm>
          <a:prstGeom prst="round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640"/>
              </a:lnSpc>
              <a:spcBef>
                <a:spcPts val="0"/>
              </a:spcBef>
              <a:spcAft>
                <a:spcPts val="0"/>
              </a:spcAft>
              <a:defRPr sz="7200" b="1">
                <a:solidFill>
                  <a:srgbClr val="FFFFFF"/>
                </a:solidFill>
                <a:latin typeface="微软雅黑"/>
              </a:defRPr>
            </a:pPr>
            <a:r>
              <a:t>210万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FFDDDD"/>
                </a:solidFill>
                <a:latin typeface="微软雅黑"/>
              </a:defRPr>
            </a:pPr>
            <a:r>
              <a:t>SKU 直连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CCCC"/>
                </a:solidFill>
                <a:latin typeface="微软雅黑"/>
              </a:defRPr>
            </a:pPr>
            <a:r>
              <a:t>覆盖义乌国际商贸城</a:t>
            </a:r>
            <a:br/>
            <a:r>
              <a:t>全品类商品数据</a:t>
            </a:r>
            <a:br/>
            <a:r>
              <a:t>实时更新库存与价格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645920"/>
            <a:ext cx="69494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828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D4272C"/>
                </a:solidFill>
                <a:latin typeface="微软雅黑"/>
              </a:defRPr>
            </a:pPr>
            <a:r>
              <a:t>智能选品能力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2377440"/>
            <a:ext cx="6400800" cy="64008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2423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4272C"/>
                </a:solidFill>
                <a:latin typeface="微软雅黑"/>
              </a:defRPr>
            </a:pPr>
            <a:r>
              <a:t>多维度筛选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69748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按品类、价格、销量、评分、趋势等多维度智能筛选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3154680"/>
            <a:ext cx="6400800" cy="64008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3200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4272C"/>
                </a:solidFill>
                <a:latin typeface="微软雅黑"/>
              </a:defRPr>
            </a:pPr>
            <a:r>
              <a:t>AI推荐引擎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347472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基于目标市场偏好与历史数据的个性化推荐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46320" y="3931920"/>
            <a:ext cx="6400800" cy="64008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3977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4272C"/>
                </a:solidFill>
                <a:latin typeface="微软雅黑"/>
              </a:defRPr>
            </a:pPr>
            <a:r>
              <a:t>趋势预测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425196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预测未来30/60/90天热门品类走势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46320" y="4709160"/>
            <a:ext cx="6400800" cy="64008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0" y="4754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4272C"/>
                </a:solidFill>
                <a:latin typeface="微软雅黑"/>
              </a:defRPr>
            </a:pPr>
            <a:r>
              <a:t>利润测算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502920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自动计算成本、物流、关税后的预估利润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46320" y="5486400"/>
            <a:ext cx="6400800" cy="64008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0" y="5532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4272C"/>
                </a:solidFill>
                <a:latin typeface="微软雅黑"/>
              </a:defRPr>
            </a:pPr>
            <a:r>
              <a:t>一键上架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580644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选品后一键同步至Amazon/Shopee/Temu等平台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供应链匹配 Agent  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CCCC"/>
                </a:solidFill>
                <a:latin typeface="微软雅黑"/>
              </a:defRPr>
            </a:pPr>
            <a:r>
              <a:t>义乌独有壁垒：7.5万商铺精准匹配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11064240" cy="548640"/>
          </a:xfrm>
          <a:prstGeom prst="roundRect">
            <a:avLst/>
          </a:prstGeom>
          <a:solidFill>
            <a:srgbClr val="FFF0F0"/>
          </a:solidFill>
          <a:ln w="19050">
            <a:solidFill>
              <a:srgbClr val="D42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D4272C"/>
                </a:solidFill>
                <a:latin typeface="微软雅黑"/>
              </a:defRPr>
            </a:pPr>
            <a:r>
              <a:t>★ 义乌独有优势 — 全球唯一7.5万商铺实时数据直连，这是其他任何平台无法复制的核心壁垒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86000"/>
            <a:ext cx="5303520" cy="4114800"/>
          </a:xfrm>
          <a:prstGeom prst="round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义乌商铺直连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08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D4A017"/>
                </a:solidFill>
                <a:latin typeface="微软雅黑"/>
              </a:defRPr>
            </a:pPr>
            <a:r>
              <a:t>7.5万+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318211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DDDD"/>
                </a:solidFill>
                <a:latin typeface="微软雅黑"/>
              </a:defRPr>
            </a:pPr>
            <a:r>
              <a:t>国际商贸城商铺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86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D4A017"/>
                </a:solidFill>
                <a:latin typeface="微软雅黑"/>
              </a:defRPr>
            </a:pPr>
            <a:r>
              <a:t>210万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95935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DDDD"/>
                </a:solidFill>
                <a:latin typeface="微软雅黑"/>
              </a:defRPr>
            </a:pPr>
            <a:r>
              <a:t>在线SKU商品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663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D4A017"/>
                </a:solidFill>
                <a:latin typeface="微软雅黑"/>
              </a:defRPr>
            </a:pPr>
            <a:r>
              <a:t>实时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473659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DDDD"/>
                </a:solidFill>
                <a:latin typeface="微软雅黑"/>
              </a:defRPr>
            </a:pPr>
            <a:r>
              <a:t>库存价格更新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44067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D4A017"/>
                </a:solidFill>
                <a:latin typeface="微软雅黑"/>
              </a:defRPr>
            </a:pPr>
            <a: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5513831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DDDD"/>
                </a:solidFill>
                <a:latin typeface="微软雅黑"/>
              </a:defRPr>
            </a:pPr>
            <a:r>
              <a:t>商铺资质认证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286000"/>
            <a:ext cx="53035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4688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D4272C"/>
                </a:solidFill>
                <a:latin typeface="微软雅黑"/>
              </a:defRPr>
            </a:pPr>
            <a:r>
              <a:t>智能匹配能力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01752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▸  需求画像 → 商铺画像：AI语义匹配精度95%+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▸  多商铺比价：同品类3-5家供应商智能比价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▸  产能评估：实时产能与交期预测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▸  样品快寄：一键申请样品，3天内到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▸  信用评级：商铺历史交易信用评分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▸  关系网络：老商户推荐 + 新商户发现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跨境内容生成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CCCC"/>
                </a:solidFill>
                <a:latin typeface="微软雅黑"/>
              </a:defRPr>
            </a:pPr>
            <a:r>
              <a:t>8语言4平台，一键生成跨境营销内容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D4272C"/>
                </a:solidFill>
                <a:latin typeface="微软雅黑"/>
              </a:defRPr>
            </a:pPr>
            <a:r>
              <a:t>支持8种语言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286000"/>
            <a:ext cx="1097280" cy="457200"/>
          </a:xfrm>
          <a:prstGeom prst="roundRect">
            <a:avLst/>
          </a:prstGeom>
          <a:solidFill>
            <a:srgbClr val="FFF0F0"/>
          </a:solidFill>
          <a:ln w="6350">
            <a:solidFill>
              <a:srgbClr val="D42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D4272C"/>
                </a:solidFill>
                <a:latin typeface="微软雅黑"/>
              </a:defRPr>
            </a:pPr>
            <a:r>
              <a:t>英语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57400" y="2286000"/>
            <a:ext cx="1097280" cy="457200"/>
          </a:xfrm>
          <a:prstGeom prst="roundRect">
            <a:avLst/>
          </a:prstGeom>
          <a:solidFill>
            <a:srgbClr val="FFF0F0"/>
          </a:solidFill>
          <a:ln w="6350">
            <a:solidFill>
              <a:srgbClr val="D42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57400" y="23317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D4272C"/>
                </a:solidFill>
                <a:latin typeface="微软雅黑"/>
              </a:defRPr>
            </a:pPr>
            <a:r>
              <a:t>西班牙语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2286000"/>
            <a:ext cx="1097280" cy="457200"/>
          </a:xfrm>
          <a:prstGeom prst="roundRect">
            <a:avLst/>
          </a:prstGeom>
          <a:solidFill>
            <a:srgbClr val="FFF0F0"/>
          </a:solidFill>
          <a:ln w="6350">
            <a:solidFill>
              <a:srgbClr val="D42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23317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D4272C"/>
                </a:solidFill>
                <a:latin typeface="微软雅黑"/>
              </a:defRPr>
            </a:pPr>
            <a:r>
              <a:t>阿拉伯语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2286000"/>
            <a:ext cx="1097280" cy="457200"/>
          </a:xfrm>
          <a:prstGeom prst="roundRect">
            <a:avLst/>
          </a:prstGeom>
          <a:solidFill>
            <a:srgbClr val="FFF0F0"/>
          </a:solidFill>
          <a:ln w="6350">
            <a:solidFill>
              <a:srgbClr val="D42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23317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D4272C"/>
                </a:solidFill>
                <a:latin typeface="微软雅黑"/>
              </a:defRPr>
            </a:pPr>
            <a:r>
              <a:t>法语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2880360"/>
            <a:ext cx="1097280" cy="457200"/>
          </a:xfrm>
          <a:prstGeom prst="roundRect">
            <a:avLst/>
          </a:prstGeom>
          <a:solidFill>
            <a:srgbClr val="FFF0F0"/>
          </a:solidFill>
          <a:ln w="6350">
            <a:solidFill>
              <a:srgbClr val="D42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9260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D4272C"/>
                </a:solidFill>
                <a:latin typeface="微软雅黑"/>
              </a:defRPr>
            </a:pPr>
            <a:r>
              <a:t>葡萄牙语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57400" y="2880360"/>
            <a:ext cx="1097280" cy="457200"/>
          </a:xfrm>
          <a:prstGeom prst="roundRect">
            <a:avLst/>
          </a:prstGeom>
          <a:solidFill>
            <a:srgbClr val="FFF0F0"/>
          </a:solidFill>
          <a:ln w="6350">
            <a:solidFill>
              <a:srgbClr val="D42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57400" y="29260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D4272C"/>
                </a:solidFill>
                <a:latin typeface="微软雅黑"/>
              </a:defRPr>
            </a:pPr>
            <a:r>
              <a:t>俄语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91840" y="2880360"/>
            <a:ext cx="1097280" cy="457200"/>
          </a:xfrm>
          <a:prstGeom prst="roundRect">
            <a:avLst/>
          </a:prstGeom>
          <a:solidFill>
            <a:srgbClr val="FFF0F0"/>
          </a:solidFill>
          <a:ln w="6350">
            <a:solidFill>
              <a:srgbClr val="D42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29260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D4272C"/>
                </a:solidFill>
                <a:latin typeface="微软雅黑"/>
              </a:defRPr>
            </a:pPr>
            <a:r>
              <a:t>日语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80" y="2880360"/>
            <a:ext cx="1097280" cy="457200"/>
          </a:xfrm>
          <a:prstGeom prst="roundRect">
            <a:avLst/>
          </a:prstGeom>
          <a:solidFill>
            <a:srgbClr val="FFF0F0"/>
          </a:solidFill>
          <a:ln w="6350">
            <a:solidFill>
              <a:srgbClr val="D42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29260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D4272C"/>
                </a:solidFill>
                <a:latin typeface="微软雅黑"/>
              </a:defRPr>
            </a:pPr>
            <a:r>
              <a:t>韩语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931920"/>
            <a:ext cx="530352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069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D4272C"/>
                </a:solidFill>
                <a:latin typeface="微软雅黑"/>
              </a:defRPr>
            </a:pPr>
            <a:r>
              <a:t>覆盖4大平台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572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4272C"/>
                </a:solidFill>
                <a:latin typeface="微软雅黑"/>
              </a:defRPr>
            </a:pPr>
            <a:r>
              <a:t>Amazon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45720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t>Listing + A+内容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9834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4272C"/>
                </a:solidFill>
                <a:latin typeface="微软雅黑"/>
              </a:defRPr>
            </a:pPr>
            <a:r>
              <a:t>Shopee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0" y="49834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t>商品描述 + 促销文案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3949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4272C"/>
                </a:solidFill>
                <a:latin typeface="微软雅黑"/>
              </a:defRPr>
            </a:pPr>
            <a:r>
              <a:t>Temu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60320" y="53949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t>商品标题 + 卖点提炼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8064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4272C"/>
                </a:solidFill>
                <a:latin typeface="微软雅黑"/>
              </a:defRPr>
            </a:pPr>
            <a:r>
              <a:t>TikTok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60320" y="58064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t>短视频脚本 + 直播话术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1645920"/>
            <a:ext cx="53035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1828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D4272C"/>
                </a:solidFill>
                <a:latin typeface="微软雅黑"/>
              </a:defRPr>
            </a:pPr>
            <a:r>
              <a:t>AI内容生成能力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23774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▸  商品标题：多语言SEO优化标题自动生成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▸  商品描述：符合平台规范的高转化描述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▸  营销文案：社交媒体帖子、广告语、促销文案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▸  视频脚本：TikTok/Reels短视频脚本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▸  图片文案：主图卖点标注 + 详情页文案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▸  本地化适配：文化禁忌检测 + 表达习惯优化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合规助手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CCCC"/>
                </a:solidFill>
                <a:latin typeface="微软雅黑"/>
              </a:defRPr>
            </a:pPr>
            <a:r>
              <a:t>1039模式 + 义新欧沿线合规，为出海保驾护航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3035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91640"/>
            <a:ext cx="5212080" cy="73152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D4272C"/>
                </a:solidFill>
                <a:latin typeface="微软雅黑"/>
              </a:defRPr>
            </a:pPr>
            <a:r>
              <a:t>市场采购贸易1039模式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4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✓  增值税免征不退，降低出口成本15-20%</a:t>
            </a:r>
          </a:p>
          <a:p>
            <a:pPr>
              <a:lnSpc>
                <a:spcPts val="224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✓  简化报关流程，通关时效提升50%</a:t>
            </a:r>
          </a:p>
          <a:p>
            <a:pPr>
              <a:lnSpc>
                <a:spcPts val="224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✓  多品类拼箱出口，小单也能享受政策红利</a:t>
            </a:r>
          </a:p>
          <a:p>
            <a:pPr>
              <a:lnSpc>
                <a:spcPts val="224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✓  外汇便利化，合法合规收结汇</a:t>
            </a:r>
          </a:p>
          <a:p>
            <a:pPr>
              <a:lnSpc>
                <a:spcPts val="224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✓  义乌试点经验，全国推广标杆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3035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691640"/>
            <a:ext cx="5212080" cy="73152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920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C5F8A"/>
                </a:solidFill>
                <a:latin typeface="微软雅黑"/>
              </a:defRPr>
            </a:pPr>
            <a:r>
              <a:t>义新欧沿线合规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46888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✓  欧盟CE认证、REACH法规自动检测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✓  中亚五国贸易合规要求实时更新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✓  中东地区Halal认证指导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✓  东南亚各国进口准入标准查询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✓  沿线国家关税税率智能计算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✓  合规风险预警与整改建议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智能客服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CCCC"/>
                </a:solidFill>
                <a:latin typeface="微软雅黑"/>
              </a:defRPr>
            </a:pPr>
            <a:r>
              <a:t>7×24小时多语言智能客服，让每个客户都被善待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0" y="1645920"/>
            <a:ext cx="3931920" cy="2286000"/>
          </a:xfrm>
          <a:prstGeom prst="round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0" y="182880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680"/>
              </a:lnSpc>
              <a:spcBef>
                <a:spcPts val="0"/>
              </a:spcBef>
              <a:spcAft>
                <a:spcPts val="0"/>
              </a:spcAft>
              <a:defRPr sz="6400" b="1">
                <a:solidFill>
                  <a:srgbClr val="FFFFFF"/>
                </a:solidFill>
                <a:latin typeface="微软雅黑"/>
              </a:defRPr>
            </a:pPr>
            <a:r>
              <a:t>7×24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27432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DDDD"/>
                </a:solidFill>
                <a:latin typeface="微软雅黑"/>
              </a:defRPr>
            </a:pPr>
            <a:r>
              <a:t>全天候多语言服务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297680"/>
            <a:ext cx="26517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4343400"/>
            <a:ext cx="2560320" cy="54864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5262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D4272C"/>
                </a:solidFill>
                <a:latin typeface="微软雅黑"/>
              </a:defRPr>
            </a:pPr>
            <a:r>
              <a:t>多语言对话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983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支持8种语言实时对话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3492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自动识别客户语言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715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文化适配表达方式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4297680"/>
            <a:ext cx="26517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74720" y="4343400"/>
            <a:ext cx="2560320" cy="54864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45262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D4272C"/>
                </a:solidFill>
                <a:latin typeface="微软雅黑"/>
              </a:defRPr>
            </a:pPr>
            <a:r>
              <a:t>智能工单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4983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自动创建跟进工单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53492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优先级智能排序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5715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超时自动升级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59" y="4297680"/>
            <a:ext cx="26517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79" y="4343400"/>
            <a:ext cx="2560320" cy="54864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19" y="45262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D4272C"/>
                </a:solidFill>
                <a:latin typeface="微软雅黑"/>
              </a:defRPr>
            </a:pPr>
            <a:r>
              <a:t>知识库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19" y="4983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产品FAQ自动应答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19" y="53492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订单状态实时查询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19" y="5715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退换货流程指引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89719" y="4297680"/>
            <a:ext cx="26517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35439" y="4343400"/>
            <a:ext cx="2560320" cy="54864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79" y="45262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D4272C"/>
                </a:solidFill>
                <a:latin typeface="微软雅黑"/>
              </a:defRPr>
            </a:pPr>
            <a:r>
              <a:t>人机协作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79" y="4983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复杂问题转人工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79" y="53492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对话上下文无缝传递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79" y="5715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服务质量实时监控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全链路工作流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CCCC"/>
                </a:solidFill>
                <a:latin typeface="微软雅黑"/>
              </a:defRPr>
            </a:pPr>
            <a:r>
              <a:t>6步串联，从市场洞察到成交闭环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828800"/>
            <a:ext cx="17830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874520"/>
            <a:ext cx="1691640" cy="640080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92024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974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D4272C"/>
                </a:solidFill>
                <a:latin typeface="微软雅黑"/>
              </a:defRPr>
            </a:pPr>
            <a:r>
              <a:t>市场洞察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0896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D4A017"/>
                </a:solidFill>
                <a:latin typeface="微软雅黑"/>
              </a:defRPr>
            </a:pPr>
            <a:r>
              <a:t>发现机会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520440"/>
            <a:ext cx="105156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74904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趋势分析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11480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需求预测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148840" y="3657600"/>
            <a:ext cx="182880" cy="274320"/>
          </a:xfrm>
          <a:prstGeom prst="rightArrow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331720" y="1828800"/>
            <a:ext cx="17830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77440" y="1874520"/>
            <a:ext cx="1691640" cy="640080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77440" y="192024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3160" y="26974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D4272C"/>
                </a:solidFill>
                <a:latin typeface="微软雅黑"/>
              </a:defRPr>
            </a:pPr>
            <a:r>
              <a:t>智能选品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310896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D4A017"/>
                </a:solidFill>
                <a:latin typeface="微软雅黑"/>
              </a:defRPr>
            </a:pPr>
            <a:r>
              <a:t>锁定产品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97480" y="3520440"/>
            <a:ext cx="105156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80" y="374904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SKU筛选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411480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利润测算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4114800" y="3657600"/>
            <a:ext cx="182880" cy="274320"/>
          </a:xfrm>
          <a:prstGeom prst="rightArrow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297680" y="1828800"/>
            <a:ext cx="17830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1874520"/>
            <a:ext cx="1691640" cy="640080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43400" y="192024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26974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D4272C"/>
                </a:solidFill>
                <a:latin typeface="微软雅黑"/>
              </a:defRPr>
            </a:pPr>
            <a:r>
              <a:t>供应链匹配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310896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D4A017"/>
                </a:solidFill>
                <a:latin typeface="微软雅黑"/>
              </a:defRPr>
            </a:pPr>
            <a:r>
              <a:t>对接商铺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63440" y="3520440"/>
            <a:ext cx="105156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34840" y="374904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商铺匹配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411480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样品确认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6080760" y="3657600"/>
            <a:ext cx="182880" cy="274320"/>
          </a:xfrm>
          <a:prstGeom prst="rightArrow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263640" y="1828800"/>
            <a:ext cx="17830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60" y="1874520"/>
            <a:ext cx="1691640" cy="640080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192024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26974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D4272C"/>
                </a:solidFill>
                <a:latin typeface="微软雅黑"/>
              </a:defRPr>
            </a:pPr>
            <a:r>
              <a:t>内容生成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310896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D4A017"/>
                </a:solidFill>
                <a:latin typeface="微软雅黑"/>
              </a:defRPr>
            </a:pPr>
            <a:r>
              <a:t>打造内容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629400" y="3520440"/>
            <a:ext cx="105156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374904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多语言文案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11480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平台适配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8046720" y="3657600"/>
            <a:ext cx="182880" cy="274320"/>
          </a:xfrm>
          <a:prstGeom prst="rightArrow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229600" y="1828800"/>
            <a:ext cx="17830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275320" y="1874520"/>
            <a:ext cx="1691640" cy="640080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75320" y="192024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05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26974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D4272C"/>
                </a:solidFill>
                <a:latin typeface="微软雅黑"/>
              </a:defRPr>
            </a:pPr>
            <a:r>
              <a:t>合规审核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310896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D4A017"/>
                </a:solidFill>
                <a:latin typeface="微软雅黑"/>
              </a:defRPr>
            </a:pPr>
            <a:r>
              <a:t>确保合规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95360" y="3520440"/>
            <a:ext cx="105156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66760" y="374904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资质检测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66760" y="411480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风险预警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10012680" y="3657600"/>
            <a:ext cx="182880" cy="274320"/>
          </a:xfrm>
          <a:prstGeom prst="rightArrow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10195560" y="1828800"/>
            <a:ext cx="17830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241280" y="1874520"/>
            <a:ext cx="1691640" cy="640080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241280" y="192024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06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87000" y="26974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D4272C"/>
                </a:solidFill>
                <a:latin typeface="微软雅黑"/>
              </a:defRPr>
            </a:pPr>
            <a:r>
              <a:t>智能客服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287000" y="310896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D4A017"/>
                </a:solidFill>
                <a:latin typeface="微软雅黑"/>
              </a:defRPr>
            </a:pPr>
            <a:r>
              <a:t>成交转化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561320" y="3520440"/>
            <a:ext cx="105156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332720" y="374904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客户服务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32720" y="411480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订单跟进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828800" y="6126480"/>
            <a:ext cx="8503920" cy="457200"/>
          </a:xfrm>
          <a:prstGeom prst="roundRect">
            <a:avLst/>
          </a:prstGeom>
          <a:solidFill>
            <a:srgbClr val="FFF0F0"/>
          </a:solidFill>
          <a:ln w="6350">
            <a:solidFill>
              <a:srgbClr val="D42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11680" y="617220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D4272C"/>
                </a:solidFill>
                <a:latin typeface="微软雅黑"/>
              </a:defRPr>
            </a:pPr>
            <a:r>
              <a:t>6大Agent协同工作，数据自动流转，商户只需关注核心决策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技术架构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CCCC"/>
                </a:solidFill>
                <a:latin typeface="微软雅黑"/>
              </a:defRPr>
            </a:pPr>
            <a:r>
              <a:t>LangGraph + FastAPI + React，企业级AI架构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474720" cy="64008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前端层  |  React + Next.js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34747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65176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2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▸  响应式Web应用</a:t>
            </a:r>
          </a:p>
          <a:p>
            <a:pPr>
              <a:lnSpc>
                <a:spcPts val="252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▸  实时数据看板</a:t>
            </a:r>
          </a:p>
          <a:p>
            <a:pPr>
              <a:lnSpc>
                <a:spcPts val="252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▸  多语言UI支持</a:t>
            </a:r>
          </a:p>
          <a:p>
            <a:pPr>
              <a:lnSpc>
                <a:spcPts val="252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▸  PWA离线可用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474720" cy="640080"/>
          </a:xfrm>
          <a:prstGeom prst="round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7373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服务层  |  FastAPI + LangGraph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377440"/>
            <a:ext cx="34747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65176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2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▸  LangGraph多Agent编排</a:t>
            </a:r>
          </a:p>
          <a:p>
            <a:pPr>
              <a:lnSpc>
                <a:spcPts val="252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▸  FastAPI高性能接口</a:t>
            </a:r>
          </a:p>
          <a:p>
            <a:pPr>
              <a:lnSpc>
                <a:spcPts val="252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▸  Redis消息队列</a:t>
            </a:r>
          </a:p>
          <a:p>
            <a:pPr>
              <a:lnSpc>
                <a:spcPts val="252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▸  PostgreSQL数据持久化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645920"/>
            <a:ext cx="3474720" cy="640080"/>
          </a:xfrm>
          <a:prstGeom prst="roundRect">
            <a:avLst/>
          </a:prstGeom>
          <a:solidFill>
            <a:srgbClr val="2D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7373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数据层  |  多源数据融合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377440"/>
            <a:ext cx="34747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265176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2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▸  义乌指数API</a:t>
            </a:r>
          </a:p>
          <a:p>
            <a:pPr>
              <a:lnSpc>
                <a:spcPts val="252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▸  商铺实时数据</a:t>
            </a:r>
          </a:p>
          <a:p>
            <a:pPr>
              <a:lnSpc>
                <a:spcPts val="252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▸  海关合规数据库</a:t>
            </a:r>
          </a:p>
          <a:p>
            <a:pPr>
              <a:lnSpc>
                <a:spcPts val="252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▸  平台开放API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486400"/>
            <a:ext cx="11064240" cy="9144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5778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D4272C"/>
                </a:solidFill>
                <a:latin typeface="微软雅黑"/>
              </a:defRPr>
            </a:pPr>
            <a:r>
              <a:t>AI核心能力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436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t>GPT-4o 多语言理解  |  LangGraph Agent编排  |  RAG知识增强  |  向量检索  |  实时数据流  |  多模态内容生成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商业模式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CCCC"/>
                </a:solidFill>
                <a:latin typeface="微软雅黑"/>
              </a:defRPr>
            </a:pPr>
            <a:r>
              <a:t>四档定价，覆盖从个体户到集团客户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920240"/>
            <a:ext cx="26517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965960"/>
            <a:ext cx="2560320" cy="73152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体验版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EEEE"/>
                </a:solidFill>
                <a:latin typeface="微软雅黑"/>
              </a:defRPr>
            </a:pPr>
            <a:r>
              <a:t>免费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✓  每月50次AI调用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29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✓  基础市场数据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931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✓  1个平台对接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✓  社区支持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1920240"/>
            <a:ext cx="26517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29000" y="1965960"/>
            <a:ext cx="2560320" cy="73152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20116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基础版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3317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EEEE"/>
                </a:solidFill>
                <a:latin typeface="微软雅黑"/>
              </a:defRPr>
            </a:pPr>
            <a:r>
              <a:t>¥299/月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✓  每月500次AI调用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429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✓  完整市场洞察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3931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✓  3个平台对接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4434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✓  在线客服支持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1645920"/>
            <a:ext cx="2651760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2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949440" y="1417320"/>
            <a:ext cx="1371600" cy="365760"/>
          </a:xfrm>
          <a:prstGeom prst="round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0" y="14447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推荐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1691640"/>
            <a:ext cx="2560320" cy="731520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17373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专业版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0574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EEEE"/>
                </a:solidFill>
                <a:latin typeface="微软雅黑"/>
              </a:defRPr>
            </a:pPr>
            <a:r>
              <a:t>¥999/月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651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✓  无限AI调用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154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✓  全链路6大Agent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657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✓  全平台对接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160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✓  专属客户经理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35440" y="1920240"/>
            <a:ext cx="26517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8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281160" y="1965960"/>
            <a:ext cx="2560320" cy="731520"/>
          </a:xfrm>
          <a:prstGeom prst="rect">
            <a:avLst/>
          </a:prstGeom>
          <a:solidFill>
            <a:srgbClr val="2D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26880" y="20116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企业版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23317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EEEE"/>
                </a:solidFill>
                <a:latin typeface="微软雅黑"/>
              </a:defRPr>
            </a:pPr>
            <a:r>
              <a:t>定制报价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✓  私有化部署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18320" y="3429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✓  定制Agent开发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20" y="3931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✓  API接口开放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20" y="4434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✓  7×24专属服务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竞争优势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CCCC"/>
                </a:solidFill>
                <a:latin typeface="微软雅黑"/>
              </a:defRPr>
            </a:pPr>
            <a:r>
              <a:t>三大义乌独有壁垒，构建不可逾越的护城河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35661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91640"/>
            <a:ext cx="3474720" cy="914400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EEEE"/>
                </a:solidFill>
                <a:latin typeface="微软雅黑"/>
              </a:defRPr>
            </a:pPr>
            <a:r>
              <a:t>壁垒一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57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7.5万商铺数据直连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346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t>全球唯一与义乌国际商贸城7.5万商铺实时数据直连的平台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657600"/>
            <a:ext cx="3017520" cy="27432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93192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80"/>
              </a:lnSpc>
              <a:spcAft>
                <a:spcPts val="400"/>
              </a:spcAft>
              <a:defRPr sz="1300">
                <a:solidFill>
                  <a:srgbClr val="333333"/>
                </a:solidFill>
                <a:latin typeface="微软雅黑"/>
              </a:defRPr>
            </a:pPr>
            <a:r>
              <a:t>▸  商铺库存、价格实时同步</a:t>
            </a:r>
          </a:p>
          <a:p>
            <a:pPr>
              <a:lnSpc>
                <a:spcPts val="2080"/>
              </a:lnSpc>
              <a:spcAft>
                <a:spcPts val="400"/>
              </a:spcAft>
              <a:defRPr sz="1300">
                <a:solidFill>
                  <a:srgbClr val="333333"/>
                </a:solidFill>
                <a:latin typeface="微软雅黑"/>
              </a:defRPr>
            </a:pPr>
            <a:r>
              <a:t>▸  商户信用评级体系</a:t>
            </a:r>
          </a:p>
          <a:p>
            <a:pPr>
              <a:lnSpc>
                <a:spcPts val="2080"/>
              </a:lnSpc>
              <a:spcAft>
                <a:spcPts val="400"/>
              </a:spcAft>
              <a:defRPr sz="1300">
                <a:solidFill>
                  <a:srgbClr val="333333"/>
                </a:solidFill>
                <a:latin typeface="微软雅黑"/>
              </a:defRPr>
            </a:pPr>
            <a:r>
              <a:t>▸  供应链响应速度领先3-5倍</a:t>
            </a:r>
          </a:p>
          <a:p>
            <a:pPr>
              <a:lnSpc>
                <a:spcPts val="2080"/>
              </a:lnSpc>
              <a:spcAft>
                <a:spcPts val="400"/>
              </a:spcAft>
              <a:defRPr sz="1300">
                <a:solidFill>
                  <a:srgbClr val="333333"/>
                </a:solidFill>
                <a:latin typeface="微软雅黑"/>
              </a:defRPr>
            </a:pPr>
            <a:r>
              <a:t>▸  数据壁垒：10年+积累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645920"/>
            <a:ext cx="35661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691640"/>
            <a:ext cx="3474720" cy="91440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737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EEEE"/>
                </a:solidFill>
                <a:latin typeface="微软雅黑"/>
              </a:defRPr>
            </a:pPr>
            <a:r>
              <a:t>壁垒二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057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1039政策深度绑定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8346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t>深度绑定义乌市场采购贸易1039模式，享受政策红利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3657600"/>
            <a:ext cx="3017520" cy="27432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393192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80"/>
              </a:lnSpc>
              <a:spcAft>
                <a:spcPts val="400"/>
              </a:spcAft>
              <a:defRPr sz="1300">
                <a:solidFill>
                  <a:srgbClr val="333333"/>
                </a:solidFill>
                <a:latin typeface="微软雅黑"/>
              </a:defRPr>
            </a:pPr>
            <a:r>
              <a:t>▸  增值税免征不退，成本优势15-20%</a:t>
            </a:r>
          </a:p>
          <a:p>
            <a:pPr>
              <a:lnSpc>
                <a:spcPts val="2080"/>
              </a:lnSpc>
              <a:spcAft>
                <a:spcPts val="400"/>
              </a:spcAft>
              <a:defRPr sz="1300">
                <a:solidFill>
                  <a:srgbClr val="333333"/>
                </a:solidFill>
                <a:latin typeface="微软雅黑"/>
              </a:defRPr>
            </a:pPr>
            <a:r>
              <a:t>▸  简化通关，时效提升50%</a:t>
            </a:r>
          </a:p>
          <a:p>
            <a:pPr>
              <a:lnSpc>
                <a:spcPts val="2080"/>
              </a:lnSpc>
              <a:spcAft>
                <a:spcPts val="400"/>
              </a:spcAft>
              <a:defRPr sz="1300">
                <a:solidFill>
                  <a:srgbClr val="333333"/>
                </a:solidFill>
                <a:latin typeface="微软雅黑"/>
              </a:defRPr>
            </a:pPr>
            <a:r>
              <a:t>▸  政府背书，合规无忧</a:t>
            </a:r>
          </a:p>
          <a:p>
            <a:pPr>
              <a:lnSpc>
                <a:spcPts val="2080"/>
              </a:lnSpc>
              <a:spcAft>
                <a:spcPts val="400"/>
              </a:spcAft>
              <a:defRPr sz="1300">
                <a:solidFill>
                  <a:srgbClr val="333333"/>
                </a:solidFill>
                <a:latin typeface="微软雅黑"/>
              </a:defRPr>
            </a:pPr>
            <a:r>
              <a:t>▸  政策壁垒：试点独占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1645920"/>
            <a:ext cx="35661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83880" y="1691640"/>
            <a:ext cx="3474720" cy="914400"/>
          </a:xfrm>
          <a:prstGeom prst="rect">
            <a:avLst/>
          </a:prstGeom>
          <a:solidFill>
            <a:srgbClr val="2D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1737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EEEE"/>
                </a:solidFill>
                <a:latin typeface="微软雅黑"/>
              </a:defRPr>
            </a:pPr>
            <a:r>
              <a:t>壁垒三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057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义新欧通道优势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8346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t>依托义新欧中欧班列，构建沿线合规与服务网络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12480" y="3657600"/>
            <a:ext cx="3017520" cy="27432"/>
          </a:xfrm>
          <a:prstGeom prst="rect">
            <a:avLst/>
          </a:prstGeom>
          <a:solidFill>
            <a:srgbClr val="2D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393192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80"/>
              </a:lnSpc>
              <a:spcAft>
                <a:spcPts val="400"/>
              </a:spcAft>
              <a:defRPr sz="1300">
                <a:solidFill>
                  <a:srgbClr val="333333"/>
                </a:solidFill>
                <a:latin typeface="微软雅黑"/>
              </a:defRPr>
            </a:pPr>
            <a:r>
              <a:t>▸  覆盖中亚、欧洲13国</a:t>
            </a:r>
          </a:p>
          <a:p>
            <a:pPr>
              <a:lnSpc>
                <a:spcPts val="2080"/>
              </a:lnSpc>
              <a:spcAft>
                <a:spcPts val="400"/>
              </a:spcAft>
              <a:defRPr sz="1300">
                <a:solidFill>
                  <a:srgbClr val="333333"/>
                </a:solidFill>
                <a:latin typeface="微软雅黑"/>
              </a:defRPr>
            </a:pPr>
            <a:r>
              <a:t>▸  沿线合规数据库独家建设</a:t>
            </a:r>
          </a:p>
          <a:p>
            <a:pPr>
              <a:lnSpc>
                <a:spcPts val="2080"/>
              </a:lnSpc>
              <a:spcAft>
                <a:spcPts val="400"/>
              </a:spcAft>
              <a:defRPr sz="1300">
                <a:solidFill>
                  <a:srgbClr val="333333"/>
                </a:solidFill>
                <a:latin typeface="微软雅黑"/>
              </a:defRPr>
            </a:pPr>
            <a:r>
              <a:t>▸  物流时效提升30%</a:t>
            </a:r>
          </a:p>
          <a:p>
            <a:pPr>
              <a:lnSpc>
                <a:spcPts val="2080"/>
              </a:lnSpc>
              <a:spcAft>
                <a:spcPts val="400"/>
              </a:spcAft>
              <a:defRPr sz="1300">
                <a:solidFill>
                  <a:srgbClr val="333333"/>
                </a:solidFill>
                <a:latin typeface="微软雅黑"/>
              </a:defRPr>
            </a:pPr>
            <a:r>
              <a:t>▸  通道壁垒：先发优势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OPC 模式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CCCC"/>
                </a:solidFill>
                <a:latin typeface="微软雅黑"/>
              </a:defRPr>
            </a:pPr>
            <a:r>
              <a:t>1人 + 6Agent = 10人团队效能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1645920"/>
            <a:ext cx="9418320" cy="1828800"/>
          </a:xfrm>
          <a:prstGeom prst="round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828800"/>
            <a:ext cx="9052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28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微软雅黑"/>
              </a:defRPr>
            </a:pPr>
            <a:r>
              <a:t>1人 + 6Agent = 10人团队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651760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DDDD"/>
                </a:solidFill>
                <a:latin typeface="微软雅黑"/>
              </a:defRPr>
            </a:pPr>
            <a:r>
              <a:t>One Person Company — 一个人就是一家出海公司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840480"/>
            <a:ext cx="53035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3886200"/>
            <a:ext cx="5212080" cy="54864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传统模式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663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C3333"/>
                </a:solidFill>
                <a:latin typeface="微软雅黑"/>
              </a:defRPr>
            </a:pPr>
            <a:r>
              <a:t>✗  需要10+人团队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74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C3333"/>
                </a:solidFill>
                <a:latin typeface="微软雅黑"/>
              </a:defRPr>
            </a:pPr>
            <a:r>
              <a:t>✗  月成本10万+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486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C3333"/>
                </a:solidFill>
                <a:latin typeface="微软雅黑"/>
              </a:defRPr>
            </a:pPr>
            <a:r>
              <a:t>✗  响应周期3-7天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89787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C3333"/>
                </a:solidFill>
                <a:latin typeface="微软雅黑"/>
              </a:defRPr>
            </a:pPr>
            <a:r>
              <a:t>✗  人工操作易出错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840480"/>
            <a:ext cx="5303520" cy="2560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2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3886200"/>
            <a:ext cx="5212080" cy="548640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9319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OPC模式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663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28B22"/>
                </a:solidFill>
                <a:latin typeface="微软雅黑"/>
              </a:defRPr>
            </a:pPr>
            <a:r>
              <a:t>✓  1人即可运营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5074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28B22"/>
                </a:solidFill>
                <a:latin typeface="微软雅黑"/>
              </a:defRPr>
            </a:pPr>
            <a:r>
              <a:t>✓  月成本低至999元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5486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28B22"/>
                </a:solidFill>
                <a:latin typeface="微软雅黑"/>
              </a:defRPr>
            </a:pPr>
            <a:r>
              <a:t>✓  AI实时响应，秒级决策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589787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28B22"/>
                </a:solidFill>
                <a:latin typeface="微软雅黑"/>
              </a:defRPr>
            </a:pPr>
            <a:r>
              <a:t>✓  自动化流程，零出错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财务预测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CCCC"/>
                </a:solidFill>
                <a:latin typeface="微软雅黑"/>
              </a:defRPr>
            </a:pPr>
            <a:r>
              <a:t>12个月收入增长曲线，第8个月实现盈亏平衡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1371600" cy="548640"/>
          </a:xfrm>
          <a:prstGeom prst="rect">
            <a:avLst/>
          </a:prstGeom>
          <a:solidFill>
            <a:srgbClr val="D4272C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月份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0240" y="1645920"/>
            <a:ext cx="1828800" cy="548640"/>
          </a:xfrm>
          <a:prstGeom prst="rect">
            <a:avLst/>
          </a:prstGeom>
          <a:solidFill>
            <a:srgbClr val="D4272C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17373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付费用户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9040" y="1645920"/>
            <a:ext cx="2011680" cy="548640"/>
          </a:xfrm>
          <a:prstGeom prst="rect">
            <a:avLst/>
          </a:prstGeom>
          <a:solidFill>
            <a:srgbClr val="D4272C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1737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月收入(万)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1645920"/>
            <a:ext cx="2011680" cy="548640"/>
          </a:xfrm>
          <a:prstGeom prst="rect">
            <a:avLst/>
          </a:prstGeom>
          <a:solidFill>
            <a:srgbClr val="D4272C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1737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累计收入(万)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1645920"/>
            <a:ext cx="2011680" cy="548640"/>
          </a:xfrm>
          <a:prstGeom prst="rect">
            <a:avLst/>
          </a:prstGeom>
          <a:solidFill>
            <a:srgbClr val="D4272C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1737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月成本(万)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784080" y="1645920"/>
            <a:ext cx="1828800" cy="548640"/>
          </a:xfrm>
          <a:prstGeom prst="rect">
            <a:avLst/>
          </a:prstGeom>
          <a:solidFill>
            <a:srgbClr val="D4272C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0" y="17373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净利润(万)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194560"/>
            <a:ext cx="1371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2860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M1-3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20240" y="2194560"/>
            <a:ext cx="1828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11680" y="2286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50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49040" y="2194560"/>
            <a:ext cx="20116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0" y="2286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3.0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60720" y="2194560"/>
            <a:ext cx="20116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52160" y="2286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3.0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0" y="2194560"/>
            <a:ext cx="20116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0" y="2286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5.0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784080" y="2194560"/>
            <a:ext cx="1828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75520" y="2286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-2.0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2743200"/>
            <a:ext cx="1371600" cy="54864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28346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M4-6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20240" y="2743200"/>
            <a:ext cx="1828800" cy="54864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11680" y="2834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200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49040" y="2743200"/>
            <a:ext cx="2011680" cy="54864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40480" y="2834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15.0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60720" y="2743200"/>
            <a:ext cx="2011680" cy="54864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52160" y="2834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18.0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0" y="2743200"/>
            <a:ext cx="2011680" cy="54864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0" y="2834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6.0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784080" y="2743200"/>
            <a:ext cx="1828800" cy="54864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75520" y="2834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9.0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3291840"/>
            <a:ext cx="1371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33832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M7-9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920240" y="3291840"/>
            <a:ext cx="1828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011680" y="33832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500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749040" y="3291840"/>
            <a:ext cx="20116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40480" y="3383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40.0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760720" y="3291840"/>
            <a:ext cx="20116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852160" y="3383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58.0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772400" y="3291840"/>
            <a:ext cx="20116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0" y="3383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8.0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784080" y="3291840"/>
            <a:ext cx="1828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875520" y="33832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32.0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3840480"/>
            <a:ext cx="1371600" cy="54864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" y="39319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M10-12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920240" y="3840480"/>
            <a:ext cx="1828800" cy="54864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011680" y="39319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1000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749040" y="3840480"/>
            <a:ext cx="2011680" cy="54864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840480" y="3931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85.0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760720" y="3840480"/>
            <a:ext cx="2011680" cy="54864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852160" y="3931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143.0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772400" y="3840480"/>
            <a:ext cx="2011680" cy="54864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863840" y="3931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12.0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784080" y="3840480"/>
            <a:ext cx="1828800" cy="54864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875520" y="39319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73.0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864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D4272C"/>
                </a:solidFill>
                <a:latin typeface="微软雅黑"/>
              </a:defRPr>
            </a:pPr>
            <a:r>
              <a:t>关键财务指标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48640" y="4663440"/>
            <a:ext cx="265176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94360" y="4709160"/>
            <a:ext cx="2560320" cy="54864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85800" y="48463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t>第8个月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85800" y="51663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D4272C"/>
                </a:solidFill>
                <a:latin typeface="微软雅黑"/>
              </a:defRPr>
            </a:pPr>
            <a:r>
              <a:t>盈亏平衡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5800" y="5715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累计收入覆盖全部投入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429000" y="4663440"/>
            <a:ext cx="265176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474720" y="4709160"/>
            <a:ext cx="2560320" cy="54864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566160" y="48463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t>12个月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566160" y="51663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D4272C"/>
                </a:solidFill>
                <a:latin typeface="微软雅黑"/>
              </a:defRPr>
            </a:pPr>
            <a:r>
              <a:t>143万收入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566160" y="5715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净利润率51%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309359" y="4663440"/>
            <a:ext cx="265176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355079" y="4709160"/>
            <a:ext cx="2560320" cy="54864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446519" y="48463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t>客单价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46519" y="51663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D4272C"/>
                </a:solidFill>
                <a:latin typeface="微软雅黑"/>
              </a:defRPr>
            </a:pPr>
            <a:r>
              <a:t>¥999/月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46519" y="5715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专业版为主力收入来源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9189719" y="4663440"/>
            <a:ext cx="265176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235439" y="4709160"/>
            <a:ext cx="2560320" cy="54864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326879" y="48463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t>LTV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326879" y="51663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D4272C"/>
                </a:solidFill>
                <a:latin typeface="微软雅黑"/>
              </a:defRPr>
            </a:pPr>
            <a:r>
              <a:t>¥12,000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326879" y="5715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客户生命周期价值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融资计划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CCCC"/>
                </a:solidFill>
                <a:latin typeface="微软雅黑"/>
              </a:defRPr>
            </a:pPr>
            <a:r>
              <a:t>种子轮100万，加速产品落地与市场拓展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303520" cy="2286000"/>
          </a:xfrm>
          <a:prstGeom prst="round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FDDDD"/>
                </a:solidFill>
                <a:latin typeface="微软雅黑"/>
              </a:defRPr>
            </a:pPr>
            <a:r>
              <a:t>种子轮融资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7200"/>
              </a:lnSpc>
              <a:spcBef>
                <a:spcPts val="0"/>
              </a:spcBef>
              <a:spcAft>
                <a:spcPts val="0"/>
              </a:spcAft>
              <a:defRPr sz="6000" b="1">
                <a:solidFill>
                  <a:srgbClr val="FFFFFF"/>
                </a:solidFill>
                <a:latin typeface="微软雅黑"/>
              </a:defRPr>
            </a:pPr>
            <a:r>
              <a:t>¥100万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918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CCCC"/>
                </a:solidFill>
                <a:latin typeface="微软雅黑"/>
              </a:defRPr>
            </a:pPr>
            <a:r>
              <a:t>出让10%股权  |  估值1000万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3035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D4272C"/>
                </a:solidFill>
                <a:latin typeface="微软雅黑"/>
              </a:defRPr>
            </a:pPr>
            <a:r>
              <a:t>资金用途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860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4272C"/>
                </a:solidFill>
                <a:latin typeface="微软雅黑"/>
              </a:defRPr>
            </a:pPr>
            <a:r>
              <a:t>40%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286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微软雅黑"/>
              </a:defRPr>
            </a:pPr>
            <a:r>
              <a:t>产品研发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22860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Agent功能完善 + 技术优化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67004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4272C"/>
                </a:solidFill>
                <a:latin typeface="微软雅黑"/>
              </a:defRPr>
            </a:pPr>
            <a:r>
              <a:t>30%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67004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微软雅黑"/>
              </a:defRPr>
            </a:pPr>
            <a:r>
              <a:t>市场推广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26700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义乌商户拓展 + 品牌建设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054096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4272C"/>
                </a:solidFill>
                <a:latin typeface="微软雅黑"/>
              </a:defRPr>
            </a:pPr>
            <a:r>
              <a:t>20%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305409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微软雅黑"/>
              </a:defRPr>
            </a:pPr>
            <a:r>
              <a:t>团队建设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305409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核心岗位招聘 + 培训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438144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4272C"/>
                </a:solidFill>
                <a:latin typeface="微软雅黑"/>
              </a:defRPr>
            </a:pPr>
            <a:r>
              <a:t>10%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343814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微软雅黑"/>
              </a:defRPr>
            </a:pPr>
            <a:r>
              <a:t>运营储备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343814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服务器 + 日常运营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206240"/>
            <a:ext cx="110642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389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D4272C"/>
                </a:solidFill>
                <a:latin typeface="微软雅黑"/>
              </a:defRPr>
            </a:pPr>
            <a:r>
              <a:t>融资后里程碑</a:t>
            </a:r>
          </a:p>
        </p:txBody>
      </p:sp>
      <p:sp>
        <p:nvSpPr>
          <p:cNvPr id="26" name="Oval 25"/>
          <p:cNvSpPr/>
          <p:nvPr/>
        </p:nvSpPr>
        <p:spPr>
          <a:xfrm>
            <a:off x="914400" y="4983480"/>
            <a:ext cx="228600" cy="228600"/>
          </a:xfrm>
          <a:prstGeom prst="ellipse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80160" y="4937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D4272C"/>
                </a:solidFill>
                <a:latin typeface="微软雅黑"/>
              </a:defRPr>
            </a:pPr>
            <a:r>
              <a:t>M1-3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49377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33333"/>
                </a:solidFill>
                <a:latin typeface="微软雅黑"/>
              </a:defRPr>
            </a:pPr>
            <a:r>
              <a:t>产品MVP上线，种子用户50+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49377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完成6大Agent核心功能开发</a:t>
            </a:r>
          </a:p>
        </p:txBody>
      </p:sp>
      <p:sp>
        <p:nvSpPr>
          <p:cNvPr id="30" name="Oval 29"/>
          <p:cNvSpPr/>
          <p:nvPr/>
        </p:nvSpPr>
        <p:spPr>
          <a:xfrm>
            <a:off x="914400" y="5367528"/>
            <a:ext cx="228600" cy="228600"/>
          </a:xfrm>
          <a:prstGeom prst="ellipse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80160" y="532180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D4272C"/>
                </a:solidFill>
                <a:latin typeface="微软雅黑"/>
              </a:defRPr>
            </a:pPr>
            <a:r>
              <a:t>M4-6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53218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33333"/>
                </a:solidFill>
                <a:latin typeface="微软雅黑"/>
              </a:defRPr>
            </a:pPr>
            <a:r>
              <a:t>付费用户200+，月收入15万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53218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义乌本地商户深度拓展</a:t>
            </a:r>
          </a:p>
        </p:txBody>
      </p:sp>
      <p:sp>
        <p:nvSpPr>
          <p:cNvPr id="34" name="Oval 33"/>
          <p:cNvSpPr/>
          <p:nvPr/>
        </p:nvSpPr>
        <p:spPr>
          <a:xfrm>
            <a:off x="914400" y="5751576"/>
            <a:ext cx="228600" cy="228600"/>
          </a:xfrm>
          <a:prstGeom prst="ellipse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570585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D4272C"/>
                </a:solidFill>
                <a:latin typeface="微软雅黑"/>
              </a:defRPr>
            </a:pPr>
            <a:r>
              <a:t>M7-9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0" y="570585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33333"/>
                </a:solidFill>
                <a:latin typeface="微软雅黑"/>
              </a:defRPr>
            </a:pPr>
            <a:r>
              <a:t>盈亏平衡，付费用户500+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570585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开启外地市场复制</a:t>
            </a:r>
          </a:p>
        </p:txBody>
      </p:sp>
      <p:sp>
        <p:nvSpPr>
          <p:cNvPr id="38" name="Oval 37"/>
          <p:cNvSpPr/>
          <p:nvPr/>
        </p:nvSpPr>
        <p:spPr>
          <a:xfrm>
            <a:off x="914400" y="6135624"/>
            <a:ext cx="228600" cy="228600"/>
          </a:xfrm>
          <a:prstGeom prst="ellipse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80160" y="608990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D4272C"/>
                </a:solidFill>
                <a:latin typeface="微软雅黑"/>
              </a:defRPr>
            </a:pPr>
            <a:r>
              <a:t>M10-12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0" y="608990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33333"/>
                </a:solidFill>
                <a:latin typeface="微软雅黑"/>
              </a:defRPr>
            </a:pPr>
            <a:r>
              <a:t>月收入85万，准备Pre-A轮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2320" y="608990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规模化增长验证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4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0" y="1371600"/>
            <a:ext cx="484632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720"/>
              </a:lnSpc>
              <a:spcBef>
                <a:spcPts val="0"/>
              </a:spcBef>
              <a:spcAft>
                <a:spcPts val="0"/>
              </a:spcAft>
              <a:defRPr sz="5600" b="1">
                <a:solidFill>
                  <a:srgbClr val="FFFFFF"/>
                </a:solidFill>
                <a:latin typeface="微软雅黑"/>
              </a:defRPr>
            </a:pPr>
            <a: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FFDDDD"/>
                </a:solidFill>
                <a:latin typeface="微软雅黑"/>
              </a:defRPr>
            </a:pPr>
            <a:r>
              <a:t>让小商品照亮全球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840480"/>
            <a:ext cx="3017520" cy="2743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t>义乌小商品出海智能体 - OPC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463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CCCC"/>
                </a:solidFill>
                <a:latin typeface="微软雅黑"/>
              </a:defRPr>
            </a:pPr>
            <a:r>
              <a:t>路演人：冯亦根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035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CCCC"/>
                </a:solidFill>
                <a:latin typeface="微软雅黑"/>
              </a:defRPr>
            </a:pPr>
            <a:r>
              <a:t>项目邮箱：opc@yiwu-agent.com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607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CCCC"/>
                </a:solidFill>
                <a:latin typeface="微软雅黑"/>
              </a:defRPr>
            </a:pPr>
            <a:r>
              <a:t>期待与您携手，共拓全球市场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